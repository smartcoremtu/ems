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F3D958-4276-4353-85F5-14F7792B80F8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A13CC1-2604-4973-830F-90E7AA147B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506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 what exactly is the HEMS box? Let me describe it in concrete terms.</a:t>
            </a:r>
          </a:p>
          <a:p>
            <a:endParaRPr lang="en-GB" dirty="0"/>
          </a:p>
          <a:p>
            <a:r>
              <a:rPr lang="en-GB" dirty="0"/>
              <a:t>On the hardware side, it's built around a Raspberry Pi 5. That's a small, low-power single-board computer — roughly the size of a credit card, runs on about five watts, and costs around eighty euros. It runs a specialised operating system called </a:t>
            </a:r>
            <a:r>
              <a:rPr lang="en-GB" dirty="0" err="1"/>
              <a:t>BalenaOS</a:t>
            </a:r>
            <a:r>
              <a:rPr lang="en-GB" dirty="0"/>
              <a:t>, which is purpose-built for running containerised applications on edge devices.</a:t>
            </a:r>
          </a:p>
          <a:p>
            <a:endParaRPr lang="en-GB" dirty="0"/>
          </a:p>
          <a:p>
            <a:r>
              <a:rPr lang="en-GB" dirty="0"/>
              <a:t>Plugged into the Pi via USB is a </a:t>
            </a:r>
            <a:r>
              <a:rPr lang="en-GB" dirty="0" err="1"/>
              <a:t>Sonoff</a:t>
            </a:r>
            <a:r>
              <a:rPr lang="en-GB" dirty="0"/>
              <a:t> </a:t>
            </a:r>
            <a:r>
              <a:rPr lang="en-GB" dirty="0" err="1"/>
              <a:t>ZBDongle</a:t>
            </a:r>
            <a:r>
              <a:rPr lang="en-GB" dirty="0"/>
              <a:t>-E — this is a Zigbee coordinator stick. Zigbee is the wireless protocol used by many smart home sensors, and this dongle acts as the radio gateway that lets the Pi talk to those sensors.</a:t>
            </a:r>
          </a:p>
          <a:p>
            <a:endParaRPr lang="en-GB" dirty="0"/>
          </a:p>
          <a:p>
            <a:r>
              <a:rPr lang="en-GB" dirty="0"/>
              <a:t>The sensor we're currently working with is the </a:t>
            </a:r>
            <a:r>
              <a:rPr lang="en-GB" dirty="0" err="1"/>
              <a:t>Frient</a:t>
            </a:r>
            <a:r>
              <a:rPr lang="en-GB" dirty="0"/>
              <a:t> SMSZB-120, which is a smart meter interface device. It clips onto the optical port of an Irish smart meter, counts the infrared blink pulses the meter emits, and converts those into real-time power readings in watts and cumulative energy readings in kilowatt-hours. It communicates back to the Pi over Zigbee.</a:t>
            </a:r>
          </a:p>
          <a:p>
            <a:endParaRPr lang="en-GB" dirty="0"/>
          </a:p>
          <a:p>
            <a:r>
              <a:rPr lang="en-GB" dirty="0"/>
              <a:t>On the software side, everything runs as Docker containers — eight separate services, all managed together using Docker Compose. I'll walk through what each of those services does in a moment.</a:t>
            </a:r>
          </a:p>
          <a:p>
            <a:endParaRPr lang="en-GB" dirty="0"/>
          </a:p>
          <a:p>
            <a:r>
              <a:rPr lang="en-GB" dirty="0"/>
              <a:t>The key design principles are: fully open-source throughout, no cloud dependency — the system works completely offline if needed — self-healing and self-updating via the </a:t>
            </a:r>
            <a:r>
              <a:rPr lang="en-GB" dirty="0" err="1"/>
              <a:t>BalenaOS</a:t>
            </a:r>
            <a:r>
              <a:rPr lang="en-GB" dirty="0"/>
              <a:t> infrastructure, extensible without hardware changes, and providing research-grade data access.</a:t>
            </a:r>
          </a:p>
          <a:p>
            <a:endParaRPr lang="en-GB" dirty="0"/>
          </a:p>
          <a:p>
            <a:r>
              <a:rPr lang="en-GB" dirty="0"/>
              <a:t>Think of it as a small, silent, self-managing computer that lives in a kitchen cupboard and watches the electricity meter.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A13CC1-2604-4973-830F-90E7AA147B2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705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5486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 dirty="0">
                <a:solidFill>
                  <a:srgbClr val="FFFFFF"/>
                </a:solidFill>
              </a:rPr>
              <a:t>SmartCORE</a:t>
            </a:r>
            <a:r>
              <a:rPr lang="en-GB" sz="4800" b="1" i="0" dirty="0">
                <a:solidFill>
                  <a:srgbClr val="FFFFFF"/>
                </a:solidFill>
              </a:rPr>
              <a:t> MTU</a:t>
            </a:r>
            <a:r>
              <a:rPr sz="4800" b="1" i="0" dirty="0">
                <a:solidFill>
                  <a:srgbClr val="FFFFFF"/>
                </a:solidFill>
              </a:rPr>
              <a:t> HEMS </a:t>
            </a:r>
            <a:r>
              <a:rPr lang="en-GB" sz="4800" b="1" i="0" dirty="0">
                <a:solidFill>
                  <a:srgbClr val="FFFFFF"/>
                </a:solidFill>
              </a:rPr>
              <a:t>Solution</a:t>
            </a:r>
            <a:endParaRPr sz="48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0AB00"/>
                </a:solidFill>
              </a:rPr>
              <a:t>Home Energy Management System — Research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Munster Technological University  |  Interreg NWE SmartCORE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29200"/>
            <a:ext cx="2377440" cy="1188720"/>
          </a:xfrm>
          <a:prstGeom prst="rect">
            <a:avLst/>
          </a:prstGeom>
          <a:solidFill>
            <a:srgbClr val="002060"/>
          </a:solidFill>
          <a:ln w="19050">
            <a:solidFill>
              <a:srgbClr val="F0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C0C0C0"/>
              </a:highlight>
            </a:endParaRPr>
          </a:p>
        </p:txBody>
      </p:sp>
      <p:sp>
        <p:nvSpPr>
          <p:cNvPr id="12" name="AutoShape 2" descr="Image preview">
            <a:extLst>
              <a:ext uri="{FF2B5EF4-FFF2-40B4-BE49-F238E27FC236}">
                <a16:creationId xmlns:a16="http://schemas.microsoft.com/office/drawing/2014/main" id="{97B1718E-86D1-C9E9-9E50-1C8D35AA34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3" name="AutoShape 4" descr="Image preview">
            <a:extLst>
              <a:ext uri="{FF2B5EF4-FFF2-40B4-BE49-F238E27FC236}">
                <a16:creationId xmlns:a16="http://schemas.microsoft.com/office/drawing/2014/main" id="{EC630C19-BCA3-999E-70D1-AD0530BE04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4413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EB1AC08-1768-ADC4-3543-98DFA395A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99" y="5257800"/>
            <a:ext cx="2072170" cy="6581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4B5916-8685-9272-73E1-EC15ED6F1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638" y="628226"/>
            <a:ext cx="5857343" cy="560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502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AB00"/>
                </a:solidFill>
              </a:rPr>
              <a:t>Why do we need a bespoke HEMS gateway?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12188952" cy="36576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MTU SmartCORE HEMS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0AB00"/>
                </a:solidFill>
              </a:rPr>
              <a:t>Interreg NWE SmartCORE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5577840" cy="2286000"/>
          </a:xfrm>
          <a:prstGeom prst="rect">
            <a:avLst/>
          </a:prstGeom>
          <a:solidFill>
            <a:srgbClr val="F2F2F2"/>
          </a:solidFill>
          <a:ln w="2540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417320"/>
            <a:ext cx="557784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4356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Fragmented Sensor Ecosystem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801368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Zigbee, Z-Wave, BLE — no common protocol</a:t>
            </a:r>
          </a:p>
          <a:p>
            <a:r>
              <a:rPr sz="1300">
                <a:solidFill>
                  <a:srgbClr val="333333"/>
                </a:solidFill>
              </a:rPr>
              <a:t>Utility meters rarely IoT-ready</a:t>
            </a:r>
          </a:p>
          <a:p>
            <a:r>
              <a:rPr sz="1300">
                <a:solidFill>
                  <a:srgbClr val="333333"/>
                </a:solidFill>
              </a:rPr>
              <a:t>Off-the-shelf hubs lack research-grade data access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17320"/>
            <a:ext cx="5577840" cy="2286000"/>
          </a:xfrm>
          <a:prstGeom prst="rect">
            <a:avLst/>
          </a:prstGeom>
          <a:solidFill>
            <a:srgbClr val="F2F2F2"/>
          </a:solidFill>
          <a:ln w="2540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417320"/>
            <a:ext cx="557784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6208" y="14356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Sovereignty &amp; Privacy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1801368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Cloud-dependent products = no local control</a:t>
            </a:r>
          </a:p>
          <a:p>
            <a:r>
              <a:rPr sz="1300">
                <a:solidFill>
                  <a:srgbClr val="333333"/>
                </a:solidFill>
              </a:rPr>
              <a:t>GDPR concerns with home energy data</a:t>
            </a:r>
          </a:p>
          <a:p>
            <a:r>
              <a:rPr sz="1300">
                <a:solidFill>
                  <a:srgbClr val="333333"/>
                </a:solidFill>
              </a:rPr>
              <a:t>Partners need raw data, not vendor-filtered APIs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31920"/>
            <a:ext cx="5577840" cy="2286000"/>
          </a:xfrm>
          <a:prstGeom prst="rect">
            <a:avLst/>
          </a:prstGeom>
          <a:solidFill>
            <a:srgbClr val="F2F2F2"/>
          </a:solidFill>
          <a:ln w="2540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3931920"/>
            <a:ext cx="557784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39502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Remote Manageability at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315968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30+ homes across Ireland — no on-site engineers</a:t>
            </a:r>
          </a:p>
          <a:p>
            <a:r>
              <a:rPr sz="1300">
                <a:solidFill>
                  <a:srgbClr val="333333"/>
                </a:solidFill>
              </a:rPr>
              <a:t>Firmware updates must be zero-touch</a:t>
            </a:r>
          </a:p>
          <a:p>
            <a:r>
              <a:rPr sz="1300">
                <a:solidFill>
                  <a:srgbClr val="333333"/>
                </a:solidFill>
              </a:rPr>
              <a:t>Self-healing critical — no single point of failure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931920"/>
            <a:ext cx="5577840" cy="2286000"/>
          </a:xfrm>
          <a:prstGeom prst="rect">
            <a:avLst/>
          </a:prstGeom>
          <a:solidFill>
            <a:srgbClr val="F2F2F2"/>
          </a:solidFill>
          <a:ln w="2540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6480" y="3931920"/>
            <a:ext cx="557784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6208" y="39502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Open &amp; Extensible Research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4315968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Off-the-shelf systems are black boxes</a:t>
            </a:r>
          </a:p>
          <a:p>
            <a:r>
              <a:rPr sz="1300">
                <a:solidFill>
                  <a:srgbClr val="333333"/>
                </a:solidFill>
              </a:rPr>
              <a:t>We need to add sensors, change algorithms, export data</a:t>
            </a:r>
          </a:p>
          <a:p>
            <a:r>
              <a:rPr sz="1300">
                <a:solidFill>
                  <a:srgbClr val="333333"/>
                </a:solidFill>
              </a:rPr>
              <a:t>Must integrate with SmartCORE EU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HEMS Box — What Is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AB00"/>
                </a:solidFill>
              </a:rPr>
              <a:t>An open, containerised edge gateway for residential energy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12188952" cy="36576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MTU SmartCORE HEMS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0AB00"/>
                </a:solidFill>
              </a:rPr>
              <a:t>Interreg NWE SmartCORE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3657600" cy="5029200"/>
          </a:xfrm>
          <a:prstGeom prst="rect">
            <a:avLst/>
          </a:prstGeom>
          <a:solidFill>
            <a:srgbClr val="F2F2F2"/>
          </a:solidFill>
          <a:ln w="2540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3657600" cy="38404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4813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Hardware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2024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Raspberry Pi 5  (arm64 / aarch64)</a:t>
            </a:r>
          </a:p>
          <a:p>
            <a:pPr lvl="1" algn="l"/>
            <a:r>
              <a:rPr sz="1200">
                <a:solidFill>
                  <a:srgbClr val="333333"/>
                </a:solidFill>
              </a:rPr>
              <a:t>– 4 GB RAM, Quad-core Cortex-A76</a:t>
            </a:r>
          </a:p>
          <a:p>
            <a:pPr lvl="1" algn="l"/>
            <a:r>
              <a:rPr sz="1200">
                <a:solidFill>
                  <a:srgbClr val="333333"/>
                </a:solidFill>
              </a:rPr>
              <a:t>– Runs BalenaOS (Yocto Linux)</a:t>
            </a:r>
          </a:p>
          <a:p>
            <a:pPr algn="l"/>
            <a:endParaRPr sz="1200">
              <a:solidFill>
                <a:srgbClr val="333333"/>
              </a:solidFill>
            </a:endParaRPr>
          </a:p>
          <a:p>
            <a:pPr algn="l"/>
            <a:r>
              <a:rPr sz="1400">
                <a:solidFill>
                  <a:srgbClr val="333333"/>
                </a:solidFill>
              </a:rPr>
              <a:t>Sonoff ZBDongle-E (USB)</a:t>
            </a:r>
          </a:p>
          <a:p>
            <a:pPr lvl="1" algn="l"/>
            <a:r>
              <a:rPr sz="1200">
                <a:solidFill>
                  <a:srgbClr val="333333"/>
                </a:solidFill>
              </a:rPr>
              <a:t>– EZSP Zigbee coordinator</a:t>
            </a:r>
          </a:p>
          <a:p>
            <a:pPr lvl="1" algn="l"/>
            <a:r>
              <a:rPr sz="1200">
                <a:solidFill>
                  <a:srgbClr val="333333"/>
                </a:solidFill>
              </a:rPr>
              <a:t>– IEEE 802.15.4 @ 2.4 GHz</a:t>
            </a:r>
          </a:p>
          <a:p>
            <a:pPr algn="l"/>
            <a:endParaRPr sz="1200">
              <a:solidFill>
                <a:srgbClr val="333333"/>
              </a:solidFill>
            </a:endParaRPr>
          </a:p>
          <a:p>
            <a:pPr algn="l"/>
            <a:r>
              <a:rPr sz="1400">
                <a:solidFill>
                  <a:srgbClr val="333333"/>
                </a:solidFill>
              </a:rPr>
              <a:t>Frient SMSZB-120</a:t>
            </a:r>
          </a:p>
          <a:p>
            <a:pPr lvl="1" algn="l"/>
            <a:r>
              <a:rPr sz="1200">
                <a:solidFill>
                  <a:srgbClr val="333333"/>
                </a:solidFill>
              </a:rPr>
              <a:t>– Smart meter interface sensor</a:t>
            </a:r>
          </a:p>
          <a:p>
            <a:pPr lvl="1" algn="l"/>
            <a:r>
              <a:rPr sz="1200">
                <a:solidFill>
                  <a:srgbClr val="333333"/>
                </a:solidFill>
              </a:rPr>
              <a:t>– Blink counter → power &amp; energy</a:t>
            </a:r>
          </a:p>
          <a:p>
            <a:pPr algn="l"/>
            <a:endParaRPr sz="1200">
              <a:solidFill>
                <a:srgbClr val="333333"/>
              </a:solidFill>
            </a:endParaRPr>
          </a:p>
          <a:p>
            <a:pPr algn="l"/>
            <a:r>
              <a:rPr sz="1400">
                <a:solidFill>
                  <a:srgbClr val="333333"/>
                </a:solidFill>
              </a:rPr>
              <a:t>[ Photo placeholder: Pi 5 + USB dongle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463040"/>
            <a:ext cx="3657600" cy="5029200"/>
          </a:xfrm>
          <a:prstGeom prst="rect">
            <a:avLst/>
          </a:prstGeom>
          <a:solidFill>
            <a:srgbClr val="F2F2F2"/>
          </a:solidFill>
          <a:ln w="25400">
            <a:solidFill>
              <a:srgbClr val="009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06240" y="1463040"/>
            <a:ext cx="3657600" cy="384048"/>
          </a:xfrm>
          <a:prstGeom prst="rect">
            <a:avLst/>
          </a:prstGeom>
          <a:solidFill>
            <a:srgbClr val="009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15968" y="14813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Software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1920240"/>
            <a:ext cx="3383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BalenaOS — container OS + OTA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Docker Compose — 8 services</a:t>
            </a:r>
          </a:p>
          <a:p>
            <a:pPr algn="l"/>
            <a:endParaRPr sz="1400">
              <a:solidFill>
                <a:srgbClr val="333333"/>
              </a:solidFill>
            </a:endParaRPr>
          </a:p>
          <a:p>
            <a:pPr algn="l"/>
            <a:r>
              <a:rPr sz="1400">
                <a:solidFill>
                  <a:srgbClr val="333333"/>
                </a:solidFill>
              </a:rPr>
              <a:t>Home Assistant — data hub &amp; UI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InfluxDB 2 — time-series database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Nginx — reverse proxy &amp; auth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Mosquitto — MQTT broker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hass-configurator — config UI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system-manager — watchdog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led-status — GPIO health LEDs</a:t>
            </a:r>
          </a:p>
          <a:p>
            <a:pPr algn="l"/>
            <a:endParaRPr sz="1400">
              <a:solidFill>
                <a:srgbClr val="333333"/>
              </a:solidFill>
            </a:endParaRPr>
          </a:p>
          <a:p>
            <a:pPr algn="l"/>
            <a:r>
              <a:rPr sz="1400">
                <a:solidFill>
                  <a:srgbClr val="333333"/>
                </a:solidFill>
              </a:rPr>
              <a:t>Bridge network 172.18.4.0/24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Isolated, static IPs per service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463040"/>
            <a:ext cx="3749039" cy="5029200"/>
          </a:xfrm>
          <a:prstGeom prst="rect">
            <a:avLst/>
          </a:prstGeom>
          <a:solidFill>
            <a:srgbClr val="F2F2F2"/>
          </a:solidFill>
          <a:ln w="25400">
            <a:solidFill>
              <a:srgbClr val="F0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1463040"/>
            <a:ext cx="3749039" cy="384048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47888" y="148132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</a:rPr>
              <a:t>Design Principles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192024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</a:rPr>
              <a:t>Open-source throughout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No cloud dependency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  (works fully offline)</a:t>
            </a:r>
          </a:p>
          <a:p>
            <a:pPr algn="l"/>
            <a:endParaRPr sz="1400">
              <a:solidFill>
                <a:srgbClr val="333333"/>
              </a:solidFill>
            </a:endParaRPr>
          </a:p>
          <a:p>
            <a:pPr algn="l"/>
            <a:r>
              <a:rPr sz="1400">
                <a:solidFill>
                  <a:srgbClr val="333333"/>
                </a:solidFill>
              </a:rPr>
              <a:t>Self-healing &amp; self-updating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  via BalenaOS Supervisor</a:t>
            </a:r>
          </a:p>
          <a:p>
            <a:pPr algn="l"/>
            <a:endParaRPr sz="1400">
              <a:solidFill>
                <a:srgbClr val="333333"/>
              </a:solidFill>
            </a:endParaRPr>
          </a:p>
          <a:p>
            <a:pPr algn="l"/>
            <a:r>
              <a:rPr sz="1400">
                <a:solidFill>
                  <a:srgbClr val="333333"/>
                </a:solidFill>
              </a:rPr>
              <a:t>Extensible — add sensors,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  services, or integrations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  without hardware changes</a:t>
            </a:r>
          </a:p>
          <a:p>
            <a:pPr algn="l"/>
            <a:endParaRPr sz="1400">
              <a:solidFill>
                <a:srgbClr val="333333"/>
              </a:solidFill>
            </a:endParaRPr>
          </a:p>
          <a:p>
            <a:pPr algn="l"/>
            <a:r>
              <a:rPr sz="1400">
                <a:solidFill>
                  <a:srgbClr val="333333"/>
                </a:solidFill>
              </a:rPr>
              <a:t>Research-grade data access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  — full InfluxDB query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AB00"/>
                </a:solidFill>
              </a:rPr>
              <a:t>8 containerised services on a private Docker bridge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12188952" cy="36576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MTU SmartCORE HEMS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0AB00"/>
                </a:solidFill>
              </a:rPr>
              <a:t>Interreg NWE SmartCORE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41732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3087"/>
                </a:solidFill>
              </a:rPr>
              <a:t>Raspberry Pi 5  (BalenaOS Host)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71600"/>
            <a:ext cx="11795760" cy="5029200"/>
          </a:xfrm>
          <a:prstGeom prst="rect">
            <a:avLst/>
          </a:prstGeom>
          <a:solidFill>
            <a:srgbClr val="E8F0FF"/>
          </a:solidFill>
          <a:ln w="2540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737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3087"/>
                </a:solidFill>
              </a:rPr>
              <a:t>Docker Bridge  172.18.4.0/24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57400"/>
            <a:ext cx="2194560" cy="11887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Home
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71576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EEFF"/>
                </a:solidFill>
              </a:rPr>
              <a:t>172.18.4.2
:8123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24912" y="2057400"/>
            <a:ext cx="2194560" cy="1188720"/>
          </a:xfrm>
          <a:prstGeom prst="rect">
            <a:avLst/>
          </a:prstGeom>
          <a:solidFill>
            <a:srgbClr val="009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98064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InfluxDB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8064" y="271576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EEFF"/>
                </a:solidFill>
              </a:rPr>
              <a:t>172.18.4.3
:8086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4064" y="2057400"/>
            <a:ext cx="2194560" cy="1188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57216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Nginx
Proxy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271576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EEFF"/>
                </a:solidFill>
              </a:rPr>
              <a:t>172.18.4.4
:80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43216" y="2057400"/>
            <a:ext cx="2194560" cy="1188720"/>
          </a:xfrm>
          <a:prstGeom prst="rect">
            <a:avLst/>
          </a:prstGeom>
          <a:solidFill>
            <a:srgbClr val="8B0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16368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Mosquitto
MQTT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8" y="271576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EEFF"/>
                </a:solidFill>
              </a:rPr>
              <a:t>172.18.4.7
:1883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429000"/>
            <a:ext cx="2194560" cy="1188720"/>
          </a:xfrm>
          <a:prstGeom prst="rect">
            <a:avLst/>
          </a:prstGeom>
          <a:solidFill>
            <a:srgbClr val="C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912" y="34747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hass-
configurator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408736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EEFF"/>
                </a:solidFill>
              </a:rPr>
              <a:t>172.18.4.6
:3218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24912" y="3429000"/>
            <a:ext cx="2194560" cy="1188720"/>
          </a:xfrm>
          <a:prstGeom prst="rect">
            <a:avLst/>
          </a:prstGeom>
          <a:solidFill>
            <a:srgbClr val="55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98064" y="34747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led-status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98064" y="408736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EEFF"/>
                </a:solidFill>
              </a:rPr>
              <a:t>172.18.4.9
GPIO 17/27/22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84064" y="3429000"/>
            <a:ext cx="2194560" cy="1188720"/>
          </a:xfrm>
          <a:prstGeom prst="rect">
            <a:avLst/>
          </a:prstGeom>
          <a:solidFill>
            <a:srgbClr val="44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57216" y="34747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system-
manager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57216" y="408736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EEFF"/>
                </a:solidFill>
              </a:rPr>
              <a:t>host network
Supervisor API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43216" y="3429000"/>
            <a:ext cx="2194560" cy="1188720"/>
          </a:xfrm>
          <a:prstGeom prst="rect">
            <a:avLst/>
          </a:prstGeom>
          <a:solidFill>
            <a:srgbClr val="44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16368" y="34747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wifi-
connect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6368" y="408736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EEFF"/>
                </a:solidFill>
              </a:rPr>
              <a:t>host network
Captive portal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0" y="2057400"/>
            <a:ext cx="2286000" cy="822960"/>
          </a:xfrm>
          <a:prstGeom prst="rect">
            <a:avLst/>
          </a:prstGeom>
          <a:solidFill>
            <a:srgbClr val="AA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01200" y="20574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BalenaOS
Supervisor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0" y="3063240"/>
            <a:ext cx="2286000" cy="82296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01200" y="3063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Balena Cloud
(OTA updates)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800600"/>
            <a:ext cx="2926080" cy="594360"/>
          </a:xfrm>
          <a:prstGeom prst="rect">
            <a:avLst/>
          </a:prstGeom>
          <a:solidFill>
            <a:srgbClr val="33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480060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Sonoff ZBDongle-E (USB / EZSP Zigbee coordinator)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0" y="4800600"/>
            <a:ext cx="2743200" cy="594360"/>
          </a:xfrm>
          <a:prstGeom prst="rect">
            <a:avLst/>
          </a:prstGeom>
          <a:solidFill>
            <a:srgbClr val="33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0" y="48006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Frient SMSZB-120 (Zigbee sensor)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71800" y="4864608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9654"/>
                </a:solidFill>
              </a:rPr>
              <a:t>← Zigbee 802.15.4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Energy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AB00"/>
                </a:solidFill>
              </a:rPr>
              <a:t>From physical smart meter pulse to database —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12188952" cy="36576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MTU SmartCORE HEMS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0AB00"/>
                </a:solidFill>
              </a:rPr>
              <a:t>Interreg NWE SmartCORE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-50292" y="1920240"/>
            <a:ext cx="1481328" cy="2103120"/>
          </a:xfrm>
          <a:prstGeom prst="rect">
            <a:avLst/>
          </a:prstGeom>
          <a:solidFill>
            <a:srgbClr val="33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-4572" y="1993392"/>
            <a:ext cx="1389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Smart Meter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4572" y="2606040"/>
            <a:ext cx="13898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FFDD"/>
                </a:solidFill>
              </a:rPr>
              <a:t>IR pulse output
(blink counter)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1036" y="27432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AB0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51076" y="1920240"/>
            <a:ext cx="1481328" cy="2103120"/>
          </a:xfrm>
          <a:prstGeom prst="rect">
            <a:avLst/>
          </a:prstGeom>
          <a:solidFill>
            <a:srgbClr val="00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96796" y="1993392"/>
            <a:ext cx="1389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Frient
SMSZB-120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6796" y="2606040"/>
            <a:ext cx="13898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FFDD"/>
                </a:solidFill>
              </a:rPr>
              <a:t>Counts pulses
→ kWh / 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2404" y="27432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AB0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52444" y="1920240"/>
            <a:ext cx="1481328" cy="2103120"/>
          </a:xfrm>
          <a:prstGeom prst="rect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98164" y="1993392"/>
            <a:ext cx="1389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Sonoff
ZBDongle-E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8164" y="2606040"/>
            <a:ext cx="13898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FFDD"/>
                </a:solidFill>
              </a:rPr>
              <a:t>USB Zigbee
coordinator
(EZSP)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3772" y="27432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AB0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53812" y="1920240"/>
            <a:ext cx="1481328" cy="21031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99532" y="1993392"/>
            <a:ext cx="1389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ZHA
(in HA)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9532" y="2606040"/>
            <a:ext cx="13898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FFDD"/>
                </a:solidFill>
              </a:rPr>
              <a:t>Zigbee Home
Automation
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5140" y="27432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AB0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55180" y="1920240"/>
            <a:ext cx="1481328" cy="21031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00900" y="1993392"/>
            <a:ext cx="1389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HA State
Machine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900" y="2606040"/>
            <a:ext cx="13898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FFDD"/>
                </a:solidFill>
              </a:rPr>
              <a:t>Entity states
updated every
60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6508" y="27432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AB00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56548" y="1920240"/>
            <a:ext cx="1481328" cy="2103120"/>
          </a:xfrm>
          <a:prstGeom prst="rect">
            <a:avLst/>
          </a:prstGeom>
          <a:solidFill>
            <a:srgbClr val="009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02268" y="1993392"/>
            <a:ext cx="1389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InfluxDB
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2268" y="2606040"/>
            <a:ext cx="13898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FFDD"/>
                </a:solidFill>
              </a:rPr>
              <a:t>HTTP POST
Line Protocol
→ InfluxDB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37876" y="27432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AB00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57916" y="1920240"/>
            <a:ext cx="1481328" cy="2103120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803636" y="1993392"/>
            <a:ext cx="13898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InfluxDB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03636" y="2606040"/>
            <a:ext cx="13898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FFDD"/>
                </a:solidFill>
              </a:rPr>
              <a:t>Time-series DB
bucket:
home_assistant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-50292" y="4160520"/>
            <a:ext cx="1801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9654"/>
                </a:solidFill>
              </a:rPr>
              <a:t>Zigbee 802.15.4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52444" y="4160520"/>
            <a:ext cx="1801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70C0"/>
                </a:solidFill>
              </a:rPr>
              <a:t>EZSP/USB serial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53812" y="4160520"/>
            <a:ext cx="1801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3087"/>
                </a:solidFill>
              </a:rPr>
              <a:t>HA internal bus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56548" y="4160520"/>
            <a:ext cx="1801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9654"/>
                </a:solidFill>
              </a:rPr>
              <a:t>HTTP /api/v2/write
(Line Protocol)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120640"/>
            <a:ext cx="11612880" cy="685800"/>
          </a:xfrm>
          <a:prstGeom prst="rect">
            <a:avLst/>
          </a:prstGeom>
          <a:solidFill>
            <a:srgbClr val="FFF8E0"/>
          </a:solidFill>
          <a:ln w="19050">
            <a:solidFill>
              <a:srgbClr val="F0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516636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3333"/>
                </a:solidFill>
              </a:rPr>
              <a:t>Note: MQTT broker is present but idle in the current ZHA deployment. Zigbee2MQTT is an alternative architecture that routes all data through MQTT (see Slide 10).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Services — What Each One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MTU SmartCORE HEMS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0AB00"/>
                </a:solidFill>
              </a:rPr>
              <a:t>Interreg NWE SmartCORE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3840480" cy="2331720"/>
          </a:xfrm>
          <a:prstGeom prst="rect">
            <a:avLst/>
          </a:prstGeom>
          <a:solidFill>
            <a:srgbClr val="F2F2F2"/>
          </a:solidFill>
          <a:ln w="2540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384048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11556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Home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481328"/>
            <a:ext cx="3657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• Central data hub &amp; user dashboard</a:t>
            </a:r>
          </a:p>
          <a:p>
            <a:r>
              <a:rPr sz="1300">
                <a:solidFill>
                  <a:srgbClr val="333333"/>
                </a:solidFill>
              </a:rPr>
              <a:t>• Manages Zigbee devices via ZHA integration</a:t>
            </a:r>
          </a:p>
          <a:p>
            <a:r>
              <a:rPr sz="1300">
                <a:solidFill>
                  <a:srgbClr val="333333"/>
                </a:solidFill>
              </a:rPr>
              <a:t>• Syncs all sensor states → InfluxDB automatically</a:t>
            </a:r>
          </a:p>
          <a:p>
            <a:r>
              <a:rPr sz="1300">
                <a:solidFill>
                  <a:srgbClr val="333333"/>
                </a:solidFill>
              </a:rPr>
              <a:t>• Automation engine (backups, alerts)</a:t>
            </a:r>
          </a:p>
          <a:p>
            <a:r>
              <a:rPr sz="1300">
                <a:solidFill>
                  <a:srgbClr val="333333"/>
                </a:solidFill>
              </a:rPr>
              <a:t>• Trusted proxy via Nginx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097280"/>
            <a:ext cx="3840480" cy="2331720"/>
          </a:xfrm>
          <a:prstGeom prst="rect">
            <a:avLst/>
          </a:prstGeom>
          <a:solidFill>
            <a:srgbClr val="F2F2F2"/>
          </a:solidFill>
          <a:ln w="25400">
            <a:solidFill>
              <a:srgbClr val="009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1097280"/>
            <a:ext cx="3840480" cy="347472"/>
          </a:xfrm>
          <a:prstGeom prst="rect">
            <a:avLst/>
          </a:prstGeom>
          <a:solidFill>
            <a:srgbClr val="009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61688" y="111556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InfluxDB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1481328"/>
            <a:ext cx="3657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• Time-series database for all energy data</a:t>
            </a:r>
          </a:p>
          <a:p>
            <a:r>
              <a:rPr sz="1300">
                <a:solidFill>
                  <a:srgbClr val="333333"/>
                </a:solidFill>
              </a:rPr>
              <a:t>• Bucket: home_assistant  |  Org: hems</a:t>
            </a:r>
          </a:p>
          <a:p>
            <a:r>
              <a:rPr sz="1300">
                <a:solidFill>
                  <a:srgbClr val="333333"/>
                </a:solidFill>
              </a:rPr>
              <a:t>• Queried via Flux language / REST API</a:t>
            </a:r>
          </a:p>
          <a:p>
            <a:r>
              <a:rPr sz="1300">
                <a:solidFill>
                  <a:srgbClr val="333333"/>
                </a:solidFill>
              </a:rPr>
              <a:t>• Retains full history for research analysis</a:t>
            </a:r>
          </a:p>
          <a:p>
            <a:r>
              <a:rPr sz="1300">
                <a:solidFill>
                  <a:srgbClr val="333333"/>
                </a:solidFill>
              </a:rPr>
              <a:t>• UI accessible at /influx/ via Nginx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097280"/>
            <a:ext cx="3840480" cy="2331720"/>
          </a:xfrm>
          <a:prstGeom prst="rect">
            <a:avLst/>
          </a:prstGeom>
          <a:solidFill>
            <a:srgbClr val="F2F2F2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097280"/>
            <a:ext cx="384048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111556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Nginx Reverse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1481328"/>
            <a:ext cx="3657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• Single entry point — port 80 on host</a:t>
            </a:r>
          </a:p>
          <a:p>
            <a:r>
              <a:rPr sz="1300">
                <a:solidFill>
                  <a:srgbClr val="333333"/>
                </a:solidFill>
              </a:rPr>
              <a:t>• Basic auth (CONFIG_USER / CONFIG_PASSWORD)</a:t>
            </a:r>
          </a:p>
          <a:p>
            <a:r>
              <a:rPr sz="1300">
                <a:solidFill>
                  <a:srgbClr val="333333"/>
                </a:solidFill>
              </a:rPr>
              <a:t>• Routes /  →  HA, /influx/  →  InfluxDB</a:t>
            </a:r>
          </a:p>
          <a:p>
            <a:r>
              <a:rPr sz="1300">
                <a:solidFill>
                  <a:srgbClr val="333333"/>
                </a:solidFill>
              </a:rPr>
              <a:t>• WebSocket upgrade headers for HA live UI</a:t>
            </a:r>
          </a:p>
          <a:p>
            <a:r>
              <a:rPr sz="1300">
                <a:solidFill>
                  <a:srgbClr val="333333"/>
                </a:solidFill>
              </a:rPr>
              <a:t>• Sub-filter rewrites InfluxDB JS asset paths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566160"/>
            <a:ext cx="3840480" cy="2331720"/>
          </a:xfrm>
          <a:prstGeom prst="rect">
            <a:avLst/>
          </a:prstGeom>
          <a:solidFill>
            <a:srgbClr val="F2F2F2"/>
          </a:solidFill>
          <a:ln w="25400">
            <a:solidFill>
              <a:srgbClr val="44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3566160"/>
            <a:ext cx="3840480" cy="347472"/>
          </a:xfrm>
          <a:prstGeom prst="rect">
            <a:avLst/>
          </a:prstGeom>
          <a:solidFill>
            <a:srgbClr val="44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358444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system-manager
(Watchdog)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3950208"/>
            <a:ext cx="3657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• Runs every 30 s on host network</a:t>
            </a:r>
          </a:p>
          <a:p>
            <a:r>
              <a:rPr sz="1300">
                <a:solidFill>
                  <a:srgbClr val="333333"/>
                </a:solidFill>
              </a:rPr>
              <a:t>• Restarts HA on new BalenaOS release</a:t>
            </a:r>
          </a:p>
          <a:p>
            <a:r>
              <a:rPr sz="1300">
                <a:solidFill>
                  <a:srgbClr val="333333"/>
                </a:solidFill>
              </a:rPr>
              <a:t>• Reboots device if internet down &gt; 30 min</a:t>
            </a:r>
          </a:p>
          <a:p>
            <a:r>
              <a:rPr sz="1300">
                <a:solidFill>
                  <a:srgbClr val="333333"/>
                </a:solidFill>
              </a:rPr>
              <a:t>• Uses Balena Supervisor REST API</a:t>
            </a:r>
          </a:p>
          <a:p>
            <a:r>
              <a:rPr sz="1300">
                <a:solidFill>
                  <a:srgbClr val="333333"/>
                </a:solidFill>
              </a:rPr>
              <a:t>• iptables rules: Docker ↔ WiFi repeater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3566160"/>
            <a:ext cx="3840480" cy="2331720"/>
          </a:xfrm>
          <a:prstGeom prst="rect">
            <a:avLst/>
          </a:prstGeom>
          <a:solidFill>
            <a:srgbClr val="F2F2F2"/>
          </a:solidFill>
          <a:ln w="25400">
            <a:solidFill>
              <a:srgbClr val="8B00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51960" y="3566160"/>
            <a:ext cx="3840480" cy="347472"/>
          </a:xfrm>
          <a:prstGeom prst="rect">
            <a:avLst/>
          </a:prstGeom>
          <a:solidFill>
            <a:srgbClr val="8B0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61688" y="358444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Mosquitto MQTT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3950208"/>
            <a:ext cx="3657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• Message broker (port 1883)</a:t>
            </a:r>
          </a:p>
          <a:p>
            <a:r>
              <a:rPr sz="1300">
                <a:solidFill>
                  <a:srgbClr val="333333"/>
                </a:solidFill>
              </a:rPr>
              <a:t>• Ready for Zigbee2MQTT alternative arch</a:t>
            </a:r>
          </a:p>
          <a:p>
            <a:r>
              <a:rPr sz="1300">
                <a:solidFill>
                  <a:srgbClr val="333333"/>
                </a:solidFill>
              </a:rPr>
              <a:t>• Retained messages → sensor state on restart</a:t>
            </a:r>
          </a:p>
          <a:p>
            <a:r>
              <a:rPr sz="1300">
                <a:solidFill>
                  <a:srgbClr val="333333"/>
                </a:solidFill>
              </a:rPr>
              <a:t>• Persistence to mosquitto.db volume</a:t>
            </a:r>
          </a:p>
          <a:p>
            <a:r>
              <a:rPr sz="1300">
                <a:solidFill>
                  <a:srgbClr val="333333"/>
                </a:solidFill>
              </a:rPr>
              <a:t>• Currently idle (ZHA deployment)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566160"/>
            <a:ext cx="3840480" cy="2331720"/>
          </a:xfrm>
          <a:prstGeom prst="rect">
            <a:avLst/>
          </a:prstGeom>
          <a:solidFill>
            <a:srgbClr val="F2F2F2"/>
          </a:solidFill>
          <a:ln w="25400">
            <a:solidFill>
              <a:srgbClr val="55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0" y="3566160"/>
            <a:ext cx="3840480" cy="347472"/>
          </a:xfrm>
          <a:prstGeom prst="rect">
            <a:avLst/>
          </a:prstGeom>
          <a:solidFill>
            <a:srgbClr val="55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39328" y="358444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led-status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8" y="3950208"/>
            <a:ext cx="36576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• GPIO 17 → green LED (HA reachable?)</a:t>
            </a:r>
          </a:p>
          <a:p>
            <a:r>
              <a:rPr sz="1300">
                <a:solidFill>
                  <a:srgbClr val="333333"/>
                </a:solidFill>
              </a:rPr>
              <a:t>• GPIO 27 → blue LED (internet alive?)</a:t>
            </a:r>
          </a:p>
          <a:p>
            <a:r>
              <a:rPr sz="1300">
                <a:solidFill>
                  <a:srgbClr val="333333"/>
                </a:solidFill>
              </a:rPr>
              <a:t>• GPIO 22 → red LED (HA errors in log?)</a:t>
            </a:r>
          </a:p>
          <a:p>
            <a:r>
              <a:rPr sz="1300">
                <a:solidFill>
                  <a:srgbClr val="333333"/>
                </a:solidFill>
              </a:rPr>
              <a:t>• Pi 5 lgpio patch (chip=0)</a:t>
            </a:r>
          </a:p>
          <a:p>
            <a:r>
              <a:rPr sz="1300">
                <a:solidFill>
                  <a:srgbClr val="333333"/>
                </a:solidFill>
              </a:rPr>
              <a:t>• Polls every 2 seconds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Self-Healing &amp; Remote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AB00"/>
                </a:solidFill>
              </a:rPr>
              <a:t>Zero-touch operation across distributed pilot deployments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12188952" cy="36576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MTU SmartCORE HEMS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0AB00"/>
                </a:solidFill>
              </a:rPr>
              <a:t>Interreg NWE SmartCORE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5577840" cy="2148840"/>
          </a:xfrm>
          <a:prstGeom prst="rect">
            <a:avLst/>
          </a:prstGeom>
          <a:solidFill>
            <a:srgbClr val="F2F2F2"/>
          </a:solidFill>
          <a:ln w="2540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557784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48132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BalenaOS — OTA 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847088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Yocto-based container OS with Supervisor daemon</a:t>
            </a:r>
          </a:p>
          <a:p>
            <a:r>
              <a:rPr sz="1300">
                <a:solidFill>
                  <a:srgbClr val="333333"/>
                </a:solidFill>
              </a:rPr>
              <a:t>Push new Docker images from Balena Cloud → device auto-pulls</a:t>
            </a:r>
          </a:p>
          <a:p>
            <a:r>
              <a:rPr sz="1300">
                <a:solidFill>
                  <a:srgbClr val="333333"/>
                </a:solidFill>
              </a:rPr>
              <a:t>No SSH access required — fully managed via Balena dashboard</a:t>
            </a:r>
          </a:p>
          <a:p>
            <a:r>
              <a:rPr sz="1300">
                <a:solidFill>
                  <a:srgbClr val="333333"/>
                </a:solidFill>
              </a:rPr>
              <a:t>Balena App ID / Release ID tracked for graceful HA restart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463040"/>
            <a:ext cx="5852160" cy="2148840"/>
          </a:xfrm>
          <a:prstGeom prst="rect">
            <a:avLst/>
          </a:prstGeom>
          <a:solidFill>
            <a:srgbClr val="F2F2F2"/>
          </a:solidFill>
          <a:ln w="25400">
            <a:solidFill>
              <a:srgbClr val="44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1463040"/>
            <a:ext cx="5852160" cy="347472"/>
          </a:xfrm>
          <a:prstGeom prst="rect">
            <a:avLst/>
          </a:prstGeom>
          <a:solidFill>
            <a:srgbClr val="44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44768" y="1481328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system-manager Watchdog (30 s loop)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1847088"/>
            <a:ext cx="5669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1. Stops wifi-repeater after 10 min (bandwidth management)</a:t>
            </a:r>
          </a:p>
          <a:p>
            <a:r>
              <a:rPr sz="1300">
                <a:solidFill>
                  <a:srgbClr val="333333"/>
                </a:solidFill>
              </a:rPr>
              <a:t>2. Detects new Balena release → graceful HA restart (2 min grace)</a:t>
            </a:r>
          </a:p>
          <a:p>
            <a:r>
              <a:rPr sz="1300">
                <a:solidFill>
                  <a:srgbClr val="333333"/>
                </a:solidFill>
              </a:rPr>
              <a:t>3. Pings google.com — reboots device if down &gt; 30 min</a:t>
            </a:r>
          </a:p>
          <a:p>
            <a:r>
              <a:rPr sz="1300">
                <a:solidFill>
                  <a:srgbClr val="333333"/>
                </a:solidFill>
              </a:rPr>
              <a:t>4. Sets iptables rules on startup (Docker ↔ WiFi subnets)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49039"/>
            <a:ext cx="5577840" cy="2148840"/>
          </a:xfrm>
          <a:prstGeom prst="rect">
            <a:avLst/>
          </a:prstGeom>
          <a:solidFill>
            <a:srgbClr val="F2F2F2"/>
          </a:solidFill>
          <a:ln w="25400">
            <a:solidFill>
              <a:srgbClr val="009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3749039"/>
            <a:ext cx="5577840" cy="347472"/>
          </a:xfrm>
          <a:prstGeom prst="rect">
            <a:avLst/>
          </a:prstGeom>
          <a:solidFill>
            <a:srgbClr val="009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3767327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LED Status Indicators (Physical Feedback)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133087"/>
            <a:ext cx="5394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🟢 GPIO 17 — Home Assistant reachable (internal ping)</a:t>
            </a:r>
          </a:p>
          <a:p>
            <a:r>
              <a:rPr sz="1300">
                <a:solidFill>
                  <a:srgbClr val="333333"/>
                </a:solidFill>
              </a:rPr>
              <a:t>🔵 GPIO 27 — Internet connectivity (8.8.8.8 ping)</a:t>
            </a:r>
          </a:p>
          <a:p>
            <a:r>
              <a:rPr sz="1300">
                <a:solidFill>
                  <a:srgbClr val="333333"/>
                </a:solidFill>
              </a:rPr>
              <a:t>🔴 GPIO 22 — Error state (scans HA log for ERROR keyword)</a:t>
            </a:r>
          </a:p>
          <a:p>
            <a:r>
              <a:rPr sz="1300">
                <a:solidFill>
                  <a:srgbClr val="333333"/>
                </a:solidFill>
              </a:rPr>
              <a:t>Allows non-technical householders to see system health at a glance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749039"/>
            <a:ext cx="5852160" cy="2148840"/>
          </a:xfrm>
          <a:prstGeom prst="rect">
            <a:avLst/>
          </a:prstGeom>
          <a:solidFill>
            <a:srgbClr val="F2F2F2"/>
          </a:solidFill>
          <a:ln w="25400">
            <a:solidFill>
              <a:srgbClr val="F0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35040" y="3749039"/>
            <a:ext cx="5852160" cy="347472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44768" y="3767327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WiFi Onboarding — wifi-connect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4133087"/>
            <a:ext cx="5669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On first boot (or lost WiFi): launches captive portal</a:t>
            </a:r>
          </a:p>
          <a:p>
            <a:r>
              <a:rPr sz="1300">
                <a:solidFill>
                  <a:srgbClr val="333333"/>
                </a:solidFill>
              </a:rPr>
              <a:t>Householder connects phone → selects home WiFi → enters password</a:t>
            </a:r>
          </a:p>
          <a:p>
            <a:r>
              <a:rPr sz="1300">
                <a:solidFill>
                  <a:srgbClr val="333333"/>
                </a:solidFill>
              </a:rPr>
              <a:t>NetworkManager configures WiFi via D-Bus on host</a:t>
            </a:r>
          </a:p>
          <a:p>
            <a:r>
              <a:rPr sz="1300">
                <a:solidFill>
                  <a:srgbClr val="333333"/>
                </a:solidFill>
              </a:rPr>
              <a:t>No LAN cable or technical knowledge required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Energy Monitoring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AB00"/>
                </a:solidFill>
              </a:rPr>
              <a:t>Real-time visibility into household energy consumption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12188952" cy="36576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MTU SmartCORE HEMS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0AB00"/>
                </a:solidFill>
              </a:rPr>
              <a:t>Interreg NWE SmartCORE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7772400" cy="4983480"/>
          </a:xfrm>
          <a:prstGeom prst="rect">
            <a:avLst/>
          </a:prstGeom>
          <a:solidFill>
            <a:srgbClr val="F2F2F2"/>
          </a:solidFill>
          <a:ln w="2540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256032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99999"/>
                </a:solidFill>
              </a:rPr>
              <a:t>[ Screenshot Placeholder ]
Home Assistant Energy Dashboard
InfluxDB Grafana-style charts
Real-time power (W) &amp; cumulative energy (kWh)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417320"/>
            <a:ext cx="3566160" cy="2194560"/>
          </a:xfrm>
          <a:prstGeom prst="rect">
            <a:avLst/>
          </a:prstGeom>
          <a:solidFill>
            <a:srgbClr val="F2F2F2"/>
          </a:solidFill>
          <a:ln w="25400">
            <a:solidFill>
              <a:srgbClr val="009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21040" y="1417320"/>
            <a:ext cx="3566160" cy="347472"/>
          </a:xfrm>
          <a:prstGeom prst="rect">
            <a:avLst/>
          </a:prstGeom>
          <a:solidFill>
            <a:srgbClr val="009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0768" y="143560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Captured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180136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Power (W) — real-time consumption</a:t>
            </a:r>
          </a:p>
          <a:p>
            <a:r>
              <a:rPr sz="1300">
                <a:solidFill>
                  <a:srgbClr val="333333"/>
                </a:solidFill>
              </a:rPr>
              <a:t>Energy (kWh) — cumulative total</a:t>
            </a:r>
          </a:p>
          <a:p>
            <a:r>
              <a:rPr sz="1300">
                <a:solidFill>
                  <a:srgbClr val="333333"/>
                </a:solidFill>
              </a:rPr>
              <a:t>Link quality — Zigbee signal strength</a:t>
            </a:r>
          </a:p>
          <a:p>
            <a:r>
              <a:rPr sz="1300">
                <a:solidFill>
                  <a:srgbClr val="333333"/>
                </a:solidFill>
              </a:rPr>
              <a:t>Timestamps at 60 s resolution</a:t>
            </a:r>
          </a:p>
          <a:p>
            <a:r>
              <a:rPr sz="1300">
                <a:solidFill>
                  <a:srgbClr val="333333"/>
                </a:solidFill>
              </a:rPr>
              <a:t>Full history in InfluxDB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749039"/>
            <a:ext cx="3566160" cy="2194560"/>
          </a:xfrm>
          <a:prstGeom prst="rect">
            <a:avLst/>
          </a:prstGeom>
          <a:solidFill>
            <a:srgbClr val="F2F2F2"/>
          </a:solidFill>
          <a:ln w="2540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3749039"/>
            <a:ext cx="356616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8" y="3767327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Access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4133087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Local LAN: http://&lt;pi-ip&gt;/</a:t>
            </a:r>
          </a:p>
          <a:p>
            <a:r>
              <a:rPr sz="1300">
                <a:solidFill>
                  <a:srgbClr val="333333"/>
                </a:solidFill>
              </a:rPr>
              <a:t>InfluxDB UI: http://&lt;pi-ip&gt;/influx/</a:t>
            </a:r>
          </a:p>
          <a:p>
            <a:r>
              <a:rPr sz="1300">
                <a:solidFill>
                  <a:srgbClr val="333333"/>
                </a:solidFill>
              </a:rPr>
              <a:t>Config UI: http://&lt;pi-ip&gt;/configurator/</a:t>
            </a:r>
          </a:p>
          <a:p>
            <a:r>
              <a:rPr sz="1300">
                <a:solidFill>
                  <a:srgbClr val="333333"/>
                </a:solidFill>
              </a:rPr>
              <a:t>All behind Nginx basic auth</a:t>
            </a:r>
          </a:p>
          <a:p>
            <a:r>
              <a:rPr sz="1300">
                <a:solidFill>
                  <a:srgbClr val="333333"/>
                </a:solidFill>
              </a:rPr>
              <a:t>WebSocket live updates supported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Extensibility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AB00"/>
                </a:solidFill>
              </a:rPr>
              <a:t>The HEMS box is designed to grow with research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12188952" cy="36576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MTU SmartCORE HEMS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0AB00"/>
                </a:solidFill>
              </a:rPr>
              <a:t>Interreg NWE SmartCORE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3749039" cy="2194560"/>
          </a:xfrm>
          <a:prstGeom prst="rect">
            <a:avLst/>
          </a:prstGeom>
          <a:solidFill>
            <a:srgbClr val="F2F2F2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3749039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115568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Alternative: Zigbee2MQTT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481328"/>
            <a:ext cx="35661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Swap ZHA for Zigbee2MQTT container</a:t>
            </a:r>
          </a:p>
          <a:p>
            <a:r>
              <a:rPr sz="1300">
                <a:solidFill>
                  <a:srgbClr val="333333"/>
                </a:solidFill>
              </a:rPr>
              <a:t>All data routed through MQTT broker</a:t>
            </a:r>
          </a:p>
          <a:p>
            <a:r>
              <a:rPr sz="1300">
                <a:solidFill>
                  <a:srgbClr val="333333"/>
                </a:solidFill>
              </a:rPr>
              <a:t>Enables multi-subscriber architecture</a:t>
            </a:r>
          </a:p>
          <a:p>
            <a:r>
              <a:rPr sz="1300">
                <a:solidFill>
                  <a:srgbClr val="333333"/>
                </a:solidFill>
              </a:rPr>
              <a:t>→ Edge ML, alerting, custom exporters</a:t>
            </a:r>
          </a:p>
          <a:p>
            <a:r>
              <a:rPr sz="1300">
                <a:solidFill>
                  <a:srgbClr val="333333"/>
                </a:solidFill>
              </a:rPr>
              <a:t>MQTT Discovery → HA auto-creates entities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39" y="1097280"/>
            <a:ext cx="3749039" cy="2194560"/>
          </a:xfrm>
          <a:prstGeom prst="rect">
            <a:avLst/>
          </a:prstGeom>
          <a:solidFill>
            <a:srgbClr val="F2F2F2"/>
          </a:solidFill>
          <a:ln w="2540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06239" y="1097280"/>
            <a:ext cx="3749039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15967" y="1115568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Mobile Access — Tailscale VPN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7" y="1481328"/>
            <a:ext cx="35661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Add tailscale container (WireGuard VPN)</a:t>
            </a:r>
          </a:p>
          <a:p>
            <a:r>
              <a:rPr sz="1300">
                <a:solidFill>
                  <a:srgbClr val="333333"/>
                </a:solidFill>
              </a:rPr>
              <a:t>Researcher/admin accesses dashboard remotely</a:t>
            </a:r>
          </a:p>
          <a:p>
            <a:r>
              <a:rPr sz="1300">
                <a:solidFill>
                  <a:srgbClr val="333333"/>
                </a:solidFill>
              </a:rPr>
              <a:t>Peer-to-peer — no cloud server needed</a:t>
            </a:r>
          </a:p>
          <a:p>
            <a:r>
              <a:rPr sz="1300">
                <a:solidFill>
                  <a:srgbClr val="333333"/>
                </a:solidFill>
              </a:rPr>
              <a:t>Stable Tailscale IP survives dynamic WAN IP</a:t>
            </a:r>
          </a:p>
          <a:p>
            <a:r>
              <a:rPr sz="1300">
                <a:solidFill>
                  <a:srgbClr val="333333"/>
                </a:solidFill>
              </a:rPr>
              <a:t>TS_AUTH_KEY via Balena env var (never in repo)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58" y="1097280"/>
            <a:ext cx="3749039" cy="2194560"/>
          </a:xfrm>
          <a:prstGeom prst="rect">
            <a:avLst/>
          </a:prstGeom>
          <a:solidFill>
            <a:srgbClr val="F2F2F2"/>
          </a:solidFill>
          <a:ln w="25400">
            <a:solidFill>
              <a:srgbClr val="009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58" y="1097280"/>
            <a:ext cx="3749039" cy="347472"/>
          </a:xfrm>
          <a:prstGeom prst="rect">
            <a:avLst/>
          </a:prstGeom>
          <a:solidFill>
            <a:srgbClr val="009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47886" y="1115568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Mobile Access — Cloudflare Tunnel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6" y="1481328"/>
            <a:ext cx="35661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Add cloudflared container</a:t>
            </a:r>
          </a:p>
          <a:p>
            <a:r>
              <a:rPr sz="1300">
                <a:solidFill>
                  <a:srgbClr val="333333"/>
                </a:solidFill>
              </a:rPr>
              <a:t>4 outbound HTTPS connections to Cloudflare</a:t>
            </a:r>
          </a:p>
          <a:p>
            <a:r>
              <a:rPr sz="1300">
                <a:solidFill>
                  <a:srgbClr val="333333"/>
                </a:solidFill>
              </a:rPr>
              <a:t>Public HTTPS URL: hems.yourdomain.com</a:t>
            </a:r>
          </a:p>
          <a:p>
            <a:r>
              <a:rPr sz="1300">
                <a:solidFill>
                  <a:srgbClr val="333333"/>
                </a:solidFill>
              </a:rPr>
              <a:t>No port forwarding or router changes</a:t>
            </a:r>
          </a:p>
          <a:p>
            <a:r>
              <a:rPr sz="1300">
                <a:solidFill>
                  <a:srgbClr val="333333"/>
                </a:solidFill>
              </a:rPr>
              <a:t>Cloudflare Access for pre-auth layer (free)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429000"/>
            <a:ext cx="3749039" cy="2194560"/>
          </a:xfrm>
          <a:prstGeom prst="rect">
            <a:avLst/>
          </a:prstGeom>
          <a:solidFill>
            <a:srgbClr val="F2F2F2"/>
          </a:solidFill>
          <a:ln w="25400">
            <a:solidFill>
              <a:srgbClr val="F0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3429000"/>
            <a:ext cx="3749039" cy="347472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3447288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Additional Sensors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3813048"/>
            <a:ext cx="35661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Any Zigbee sensor pairs via ZHA/Z2M</a:t>
            </a:r>
          </a:p>
          <a:p>
            <a:r>
              <a:rPr sz="1300">
                <a:solidFill>
                  <a:srgbClr val="333333"/>
                </a:solidFill>
              </a:rPr>
              <a:t>Temperature, humidity, occupancy, gas</a:t>
            </a:r>
          </a:p>
          <a:p>
            <a:r>
              <a:rPr sz="1300">
                <a:solidFill>
                  <a:srgbClr val="333333"/>
                </a:solidFill>
              </a:rPr>
              <a:t>EV charger monitoring (eesmart-d2l path)</a:t>
            </a:r>
          </a:p>
          <a:p>
            <a:r>
              <a:rPr sz="1300">
                <a:solidFill>
                  <a:srgbClr val="333333"/>
                </a:solidFill>
              </a:rPr>
              <a:t>Clamp-on CT sensors via ESPHome/WiFi</a:t>
            </a:r>
          </a:p>
          <a:p>
            <a:r>
              <a:rPr sz="1300">
                <a:solidFill>
                  <a:srgbClr val="333333"/>
                </a:solidFill>
              </a:rPr>
              <a:t>Solar PV integration (planned)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39" y="3429000"/>
            <a:ext cx="3749039" cy="2194560"/>
          </a:xfrm>
          <a:prstGeom prst="rect">
            <a:avLst/>
          </a:prstGeom>
          <a:solidFill>
            <a:srgbClr val="F2F2F2"/>
          </a:solidFill>
          <a:ln w="25400">
            <a:solidFill>
              <a:srgbClr val="444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06239" y="3429000"/>
            <a:ext cx="3749039" cy="347472"/>
          </a:xfrm>
          <a:prstGeom prst="rect">
            <a:avLst/>
          </a:prstGeom>
          <a:solidFill>
            <a:srgbClr val="44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15967" y="3447288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Export &amp;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7" y="3813048"/>
            <a:ext cx="35661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InfluxDB REST API → SmartCORE EU platform</a:t>
            </a:r>
          </a:p>
          <a:p>
            <a:r>
              <a:rPr sz="1300">
                <a:solidFill>
                  <a:srgbClr val="333333"/>
                </a:solidFill>
              </a:rPr>
              <a:t>Export to CSV / Parquet for research</a:t>
            </a:r>
          </a:p>
          <a:p>
            <a:r>
              <a:rPr sz="1300">
                <a:solidFill>
                  <a:srgbClr val="333333"/>
                </a:solidFill>
              </a:rPr>
              <a:t>Grafana compatible (Flux queries)</a:t>
            </a:r>
          </a:p>
          <a:p>
            <a:r>
              <a:rPr sz="1300">
                <a:solidFill>
                  <a:srgbClr val="333333"/>
                </a:solidFill>
              </a:rPr>
              <a:t>MQTT → Node-RED for custom pipelines</a:t>
            </a:r>
          </a:p>
          <a:p>
            <a:r>
              <a:rPr sz="1300">
                <a:solidFill>
                  <a:srgbClr val="333333"/>
                </a:solidFill>
              </a:rPr>
              <a:t>REST hook → external ML inference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58" y="3429000"/>
            <a:ext cx="3749039" cy="2194560"/>
          </a:xfrm>
          <a:prstGeom prst="rect">
            <a:avLst/>
          </a:prstGeom>
          <a:solidFill>
            <a:srgbClr val="F2F2F2"/>
          </a:solidFill>
          <a:ln w="25400">
            <a:solidFill>
              <a:srgbClr val="AA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38158" y="3429000"/>
            <a:ext cx="3749039" cy="347472"/>
          </a:xfrm>
          <a:prstGeom prst="rect">
            <a:avLst/>
          </a:prstGeom>
          <a:solidFill>
            <a:srgbClr val="AA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47886" y="3447288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Known Gaps to Resolve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6" y="3813048"/>
            <a:ext cx="35661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eesmart-d2l: TCP proxy in Nginx but no container</a:t>
            </a:r>
          </a:p>
          <a:p>
            <a:r>
              <a:rPr sz="1300">
                <a:solidFill>
                  <a:srgbClr val="333333"/>
                </a:solidFill>
              </a:rPr>
              <a:t>No TLS on Nginx (plain HTTP on LAN only)</a:t>
            </a:r>
          </a:p>
          <a:p>
            <a:r>
              <a:rPr sz="1300">
                <a:solidFill>
                  <a:srgbClr val="333333"/>
                </a:solidFill>
              </a:rPr>
              <a:t>MQTT allow_anonymous (harden for production)</a:t>
            </a:r>
          </a:p>
          <a:p>
            <a:r>
              <a:rPr sz="1300">
                <a:solidFill>
                  <a:srgbClr val="333333"/>
                </a:solidFill>
              </a:rPr>
              <a:t>template_sensors/ not in git (on-device only)</a:t>
            </a:r>
          </a:p>
          <a:p>
            <a:r>
              <a:rPr sz="1300">
                <a:solidFill>
                  <a:srgbClr val="333333"/>
                </a:solidFill>
              </a:rPr>
              <a:t>Pilot home deployment tooling — in progress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MTU's Research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AB00"/>
                </a:solidFill>
              </a:rPr>
              <a:t>What we bring to SmartCORE NWE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12188952" cy="36576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MTU SmartCORE HEMS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0AB00"/>
                </a:solidFill>
              </a:rPr>
              <a:t>Interreg NWE SmartCORE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43000"/>
            <a:ext cx="53035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333333"/>
                </a:solidFill>
              </a:rPr>
              <a:t>What MTU Has Built</a:t>
            </a:r>
          </a:p>
          <a:p>
            <a:pPr algn="l"/>
            <a:endParaRPr sz="1500">
              <a:solidFill>
                <a:srgbClr val="333333"/>
              </a:solidFill>
            </a:endParaRPr>
          </a:p>
          <a:p>
            <a:pPr algn="l"/>
            <a:r>
              <a:rPr sz="1500">
                <a:solidFill>
                  <a:srgbClr val="333333"/>
                </a:solidFill>
              </a:rPr>
              <a:t>• Full open-source HEMS software stack</a:t>
            </a:r>
          </a:p>
          <a:p>
            <a:pPr lvl="1" algn="l"/>
            <a:r>
              <a:rPr sz="1300">
                <a:solidFill>
                  <a:srgbClr val="333333"/>
                </a:solidFill>
              </a:rPr>
              <a:t>– Containerised, reproducible, version-controlled</a:t>
            </a:r>
          </a:p>
          <a:p>
            <a:pPr lvl="1" algn="l"/>
            <a:r>
              <a:rPr sz="1300">
                <a:solidFill>
                  <a:srgbClr val="333333"/>
                </a:solidFill>
              </a:rPr>
              <a:t>– Deployable from a single docker-compose.yml</a:t>
            </a:r>
          </a:p>
          <a:p>
            <a:pPr algn="l"/>
            <a:endParaRPr sz="1300">
              <a:solidFill>
                <a:srgbClr val="333333"/>
              </a:solidFill>
            </a:endParaRPr>
          </a:p>
          <a:p>
            <a:pPr algn="l"/>
            <a:r>
              <a:rPr sz="1500">
                <a:solidFill>
                  <a:srgbClr val="333333"/>
                </a:solidFill>
              </a:rPr>
              <a:t>• Raspberry Pi 5 validated deployment</a:t>
            </a:r>
          </a:p>
          <a:p>
            <a:pPr lvl="1" algn="l"/>
            <a:r>
              <a:rPr sz="1300">
                <a:solidFill>
                  <a:srgbClr val="333333"/>
                </a:solidFill>
              </a:rPr>
              <a:t>– Pi 5 GPIO lgpio patch for led-status</a:t>
            </a:r>
          </a:p>
          <a:p>
            <a:pPr lvl="1" algn="l"/>
            <a:r>
              <a:rPr sz="1300">
                <a:solidFill>
                  <a:srgbClr val="333333"/>
                </a:solidFill>
              </a:rPr>
              <a:t>– aarch64/arm64 Docker image selection</a:t>
            </a:r>
          </a:p>
          <a:p>
            <a:pPr algn="l"/>
            <a:endParaRPr sz="1300">
              <a:solidFill>
                <a:srgbClr val="333333"/>
              </a:solidFill>
            </a:endParaRPr>
          </a:p>
          <a:p>
            <a:pPr algn="l"/>
            <a:r>
              <a:rPr sz="1500">
                <a:solidFill>
                  <a:srgbClr val="333333"/>
                </a:solidFill>
              </a:rPr>
              <a:t>• Self-healing watchdog architecture</a:t>
            </a:r>
          </a:p>
          <a:p>
            <a:pPr lvl="1" algn="l"/>
            <a:r>
              <a:rPr sz="1300">
                <a:solidFill>
                  <a:srgbClr val="333333"/>
                </a:solidFill>
              </a:rPr>
              <a:t>– Balena Supervisor API integration</a:t>
            </a:r>
          </a:p>
          <a:p>
            <a:pPr lvl="1" algn="l"/>
            <a:r>
              <a:rPr sz="1300">
                <a:solidFill>
                  <a:srgbClr val="333333"/>
                </a:solidFill>
              </a:rPr>
              <a:t>– Graceful HA restart on new firmware</a:t>
            </a:r>
          </a:p>
          <a:p>
            <a:pPr algn="l"/>
            <a:endParaRPr sz="1300">
              <a:solidFill>
                <a:srgbClr val="333333"/>
              </a:solidFill>
            </a:endParaRPr>
          </a:p>
          <a:p>
            <a:pPr algn="l"/>
            <a:r>
              <a:rPr sz="1500">
                <a:solidFill>
                  <a:srgbClr val="333333"/>
                </a:solidFill>
              </a:rPr>
              <a:t>• Technical documentation &amp; architecture reference</a:t>
            </a:r>
          </a:p>
          <a:p>
            <a:pPr lvl="1" algn="l"/>
            <a:r>
              <a:rPr sz="1300">
                <a:solidFill>
                  <a:srgbClr val="333333"/>
                </a:solidFill>
              </a:rPr>
              <a:t>– ARCHITECTURE.md, COMPONENTS.md</a:t>
            </a:r>
          </a:p>
          <a:p>
            <a:pPr lvl="1" algn="l"/>
            <a:r>
              <a:rPr sz="1300">
                <a:solidFill>
                  <a:srgbClr val="333333"/>
                </a:solidFill>
              </a:rPr>
              <a:t>– MQTT &amp; Mobile Access reference</a:t>
            </a:r>
          </a:p>
          <a:p>
            <a:pPr lvl="1" algn="l"/>
            <a:r>
              <a:rPr sz="1300">
                <a:solidFill>
                  <a:srgbClr val="333333"/>
                </a:solidFill>
              </a:rPr>
              <a:t>– PlantUML system diagrams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188720"/>
            <a:ext cx="5943600" cy="1920240"/>
          </a:xfrm>
          <a:prstGeom prst="rect">
            <a:avLst/>
          </a:prstGeom>
          <a:solidFill>
            <a:srgbClr val="F2F2F2"/>
          </a:solidFill>
          <a:ln w="25400">
            <a:solidFill>
              <a:srgbClr val="009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52160" y="1188720"/>
            <a:ext cx="5943600" cy="347472"/>
          </a:xfrm>
          <a:prstGeom prst="rect">
            <a:avLst/>
          </a:prstGeom>
          <a:solidFill>
            <a:srgbClr val="009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61888" y="1207008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Impact for SmartCORE Partners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1572768"/>
            <a:ext cx="5760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Any partner can clone repo &amp; deploy</a:t>
            </a:r>
          </a:p>
          <a:p>
            <a:r>
              <a:rPr sz="1300">
                <a:solidFill>
                  <a:srgbClr val="333333"/>
                </a:solidFill>
              </a:rPr>
              <a:t>No proprietary hardware lock-in</a:t>
            </a:r>
          </a:p>
          <a:p>
            <a:r>
              <a:rPr sz="1300">
                <a:solidFill>
                  <a:srgbClr val="333333"/>
                </a:solidFill>
              </a:rPr>
              <a:t>OTA updates mean pilot homes update silently</a:t>
            </a:r>
          </a:p>
          <a:p>
            <a:r>
              <a:rPr sz="1300">
                <a:solidFill>
                  <a:srgbClr val="333333"/>
                </a:solidFill>
              </a:rPr>
              <a:t>Full data access — no vendor API restrictions</a:t>
            </a:r>
          </a:p>
          <a:p>
            <a:r>
              <a:rPr sz="1300">
                <a:solidFill>
                  <a:srgbClr val="333333"/>
                </a:solidFill>
              </a:rPr>
              <a:t>Adapts to local smart meter standards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3291840"/>
            <a:ext cx="5943600" cy="1920240"/>
          </a:xfrm>
          <a:prstGeom prst="rect">
            <a:avLst/>
          </a:prstGeom>
          <a:solidFill>
            <a:srgbClr val="F2F2F2"/>
          </a:solidFill>
          <a:ln w="2540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52160" y="3291840"/>
            <a:ext cx="594360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61888" y="3310128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Research Outputs (Planned)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3675888"/>
            <a:ext cx="5760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Peer-reviewed publication on HEMS architecture</a:t>
            </a:r>
          </a:p>
          <a:p>
            <a:r>
              <a:rPr sz="1300">
                <a:solidFill>
                  <a:srgbClr val="333333"/>
                </a:solidFill>
              </a:rPr>
              <a:t>Open dataset from pilot homes (anonymised)</a:t>
            </a:r>
          </a:p>
          <a:p>
            <a:r>
              <a:rPr sz="1300">
                <a:solidFill>
                  <a:srgbClr val="333333"/>
                </a:solidFill>
              </a:rPr>
              <a:t>Comparison: ZHA vs Zigbee2MQTT performance</a:t>
            </a:r>
          </a:p>
          <a:p>
            <a:r>
              <a:rPr sz="1300">
                <a:solidFill>
                  <a:srgbClr val="333333"/>
                </a:solidFill>
              </a:rPr>
              <a:t>Energy baseline per household profile</a:t>
            </a:r>
          </a:p>
          <a:p>
            <a:r>
              <a:rPr sz="1300">
                <a:solidFill>
                  <a:srgbClr val="333333"/>
                </a:solidFill>
              </a:rPr>
              <a:t>Integration template for EU SmartCORE platform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5349240"/>
            <a:ext cx="5943600" cy="1097280"/>
          </a:xfrm>
          <a:prstGeom prst="rect">
            <a:avLst/>
          </a:prstGeom>
          <a:solidFill>
            <a:srgbClr val="F2F2F2"/>
          </a:solidFill>
          <a:ln w="25400">
            <a:solidFill>
              <a:srgbClr val="F0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52160" y="5349240"/>
            <a:ext cx="5943600" cy="347472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61888" y="5367528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Technology Readiness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5733288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TRL 4 → 5 transition (lab → pilot validated)</a:t>
            </a:r>
          </a:p>
          <a:p>
            <a:r>
              <a:rPr sz="1300">
                <a:solidFill>
                  <a:srgbClr val="333333"/>
                </a:solidFill>
              </a:rPr>
              <a:t>Core stack functional on Pi 5 hardware</a:t>
            </a:r>
          </a:p>
          <a:p>
            <a:r>
              <a:rPr sz="1300">
                <a:solidFill>
                  <a:srgbClr val="333333"/>
                </a:solidFill>
              </a:rPr>
              <a:t>Sensor integration confirmed end-to-end</a:t>
            </a:r>
          </a:p>
          <a:p>
            <a:r>
              <a:rPr sz="1300">
                <a:solidFill>
                  <a:srgbClr val="333333"/>
                </a:solidFill>
              </a:rPr>
              <a:t>Pilot deployment tooling in progress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Current Status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AB00"/>
                </a:solidFill>
              </a:rPr>
              <a:t>Early prototype → pilot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12188952" cy="36576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MTU SmartCORE HEMS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83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0AB00"/>
                </a:solidFill>
              </a:rPr>
              <a:t>Interreg NWE SmartCORE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1828800" cy="1280160"/>
          </a:xfrm>
          <a:prstGeom prst="rect">
            <a:avLst/>
          </a:prstGeom>
          <a:solidFill>
            <a:srgbClr val="009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" y="150876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 Stack Running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" y="199339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FFDD"/>
                </a:solidFill>
              </a:rPr>
              <a:t>All 8 containers
operational on Pi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12848" y="1463040"/>
            <a:ext cx="1828800" cy="1280160"/>
          </a:xfrm>
          <a:prstGeom prst="rect">
            <a:avLst/>
          </a:prstGeom>
          <a:solidFill>
            <a:srgbClr val="009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67712" y="150876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 Sensor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199339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FFDD"/>
                </a:solidFill>
              </a:rPr>
              <a:t>Frient → InfluxDB
end-to-end confirmed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51376" y="1463040"/>
            <a:ext cx="1828800" cy="1280160"/>
          </a:xfrm>
          <a:prstGeom prst="rect">
            <a:avLst/>
          </a:prstGeom>
          <a:solidFill>
            <a:srgbClr val="009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06240" y="150876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 OTA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199339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FFDD"/>
                </a:solidFill>
              </a:rPr>
              <a:t>BalenaOS push
validated in lab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9904" y="1463040"/>
            <a:ext cx="1828800" cy="1280160"/>
          </a:xfrm>
          <a:prstGeom prst="rect">
            <a:avLst/>
          </a:prstGeom>
          <a:solidFill>
            <a:srgbClr val="009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44768" y="150876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 Self-Healing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199339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FFDD"/>
                </a:solidFill>
              </a:rPr>
              <a:t>Watchdog tested
(reboot, HA restart)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28432" y="1463040"/>
            <a:ext cx="1828800" cy="128016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83296" y="150876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~ Mobile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199339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FFDD"/>
                </a:solidFill>
              </a:rPr>
              <a:t>Architecture designed,
implementation pending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1463040"/>
            <a:ext cx="1828800" cy="128016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21824" y="150876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→ Pilot Homes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21824" y="1993392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FFDD"/>
                </a:solidFill>
              </a:rPr>
              <a:t>Site survey in progress,
deployment Q3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087"/>
                </a:solidFill>
              </a:rPr>
              <a:t>Roadmap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337560"/>
            <a:ext cx="2834640" cy="2468880"/>
          </a:xfrm>
          <a:prstGeom prst="rect">
            <a:avLst/>
          </a:prstGeom>
          <a:solidFill>
            <a:srgbClr val="F2F2F2"/>
          </a:solidFill>
          <a:ln w="25400">
            <a:solidFill>
              <a:srgbClr val="F0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3337560"/>
            <a:ext cx="2834640" cy="347472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335584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Q2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" y="3739896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B00"/>
                </a:solidFill>
              </a:rPr>
              <a:t>Pilot preparation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" y="4160520"/>
            <a:ext cx="2697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Finalise deployment tooling
Mobile access (Tailscale / Cloudflare)
Harden MQTT security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3337560"/>
            <a:ext cx="2834640" cy="2468880"/>
          </a:xfrm>
          <a:prstGeom prst="rect">
            <a:avLst/>
          </a:prstGeom>
          <a:solidFill>
            <a:srgbClr val="F2F2F2"/>
          </a:solidFill>
          <a:ln w="25400">
            <a:solidFill>
              <a:srgbClr val="009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46120" y="3337560"/>
            <a:ext cx="2834640" cy="347472"/>
          </a:xfrm>
          <a:prstGeom prst="rect">
            <a:avLst/>
          </a:prstGeom>
          <a:solidFill>
            <a:srgbClr val="009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19272" y="335584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Q3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9272" y="3739896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54"/>
                </a:solidFill>
              </a:rPr>
              <a:t>Pilot deployment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9272" y="4160520"/>
            <a:ext cx="2697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Install HEMS in first 5–10 Irish homes
Live data flowing to SmartCORE platform
On-site WiFi onboarding validation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337560"/>
            <a:ext cx="2834640" cy="2468880"/>
          </a:xfrm>
          <a:prstGeom prst="rect">
            <a:avLst/>
          </a:prstGeom>
          <a:solidFill>
            <a:srgbClr val="F2F2F2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217920" y="3337560"/>
            <a:ext cx="283464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91072" y="335584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Q4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1072" y="3739896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0C0"/>
                </a:solidFill>
              </a:rPr>
              <a:t>Scale &amp; analyse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1072" y="4160520"/>
            <a:ext cx="2697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Expand to 20 homes
Baseline energy profiles
Peer-reviewed publication draft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89720" y="3337560"/>
            <a:ext cx="2834640" cy="2468880"/>
          </a:xfrm>
          <a:prstGeom prst="rect">
            <a:avLst/>
          </a:prstGeom>
          <a:solidFill>
            <a:srgbClr val="F2F2F2"/>
          </a:solidFill>
          <a:ln w="25400">
            <a:solidFill>
              <a:srgbClr val="0030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189720" y="3337560"/>
            <a:ext cx="283464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62872" y="3355848"/>
            <a:ext cx="2697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2027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62872" y="3739896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087"/>
                </a:solidFill>
              </a:rPr>
              <a:t>Research outputs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62872" y="4160520"/>
            <a:ext cx="2697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Full dataset analysis
HEMS v2 design (lessons learned)
Results shared with all NWE partners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88952" cy="54864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0AB00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2078</Words>
  <Application>Microsoft Office PowerPoint</Application>
  <PresentationFormat>Custom</PresentationFormat>
  <Paragraphs>329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Avinash Nagarajan</cp:lastModifiedBy>
  <cp:revision>3</cp:revision>
  <dcterms:created xsi:type="dcterms:W3CDTF">2013-01-27T09:14:16Z</dcterms:created>
  <dcterms:modified xsi:type="dcterms:W3CDTF">2026-03-04T11:04:55Z</dcterms:modified>
  <cp:category/>
</cp:coreProperties>
</file>