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9" r:id="rId3"/>
    <p:sldId id="257" r:id="rId4"/>
    <p:sldId id="258" r:id="rId5"/>
    <p:sldId id="259" r:id="rId6"/>
    <p:sldId id="260" r:id="rId7"/>
    <p:sldId id="261" r:id="rId8"/>
    <p:sldId id="262" r:id="rId9"/>
    <p:sldId id="263" r:id="rId10"/>
    <p:sldId id="265" r:id="rId11"/>
    <p:sldId id="266" r:id="rId12"/>
    <p:sldId id="267" r:id="rId13"/>
    <p:sldId id="268"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288" autoAdjust="0"/>
  </p:normalViewPr>
  <p:slideViewPr>
    <p:cSldViewPr snapToGrid="0" snapToObjects="1">
      <p:cViewPr varScale="1">
        <p:scale>
          <a:sx n="139" d="100"/>
          <a:sy n="139" d="100"/>
        </p:scale>
        <p:origin x="1098"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4095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morning / good afternoon everyone, and thank you for the opportunity to present today.</a:t>
            </a:r>
          </a:p>
          <a:p>
            <a:endParaRPr dirty="0"/>
          </a:p>
          <a:p>
            <a:r>
              <a:rPr dirty="0"/>
              <a:t>My name is [your name], I'm a researcher at Munster Technological University, and today I want to walk you through the Home Energy Management System — or HEMS box — that we've been developing here at MTU as part of the SmartCORE NWE project.</a:t>
            </a:r>
          </a:p>
          <a:p>
            <a:endParaRPr dirty="0"/>
          </a:p>
          <a:p>
            <a:r>
              <a:rPr dirty="0"/>
              <a:t>This is a ten-minute overview, so I'll move at a reasonable pace, but please do hold any questions until the end — I'll leave time for discussion.</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GB" dirty="0"/>
              <a:t>What I want to show you today is a working prototype of a piece of hardware and software that sits inside a home, connects to the smart meter, monitors energy consumption in real time, and makes that data available for research and for the householder themselves.</a:t>
            </a:r>
          </a:p>
          <a:p>
            <a:endParaRPr lang="en-GB" dirty="0"/>
          </a:p>
          <a:p>
            <a:r>
              <a:rPr lang="en-GB" dirty="0"/>
              <a:t>Let's get started.</a:t>
            </a:r>
          </a:p>
          <a:p>
            <a:endParaRPr lang="en-GB" dirty="0"/>
          </a:p>
        </p:txBody>
      </p:sp>
    </p:spTree>
    <p:extLst>
      <p:ext uri="{BB962C8B-B14F-4D97-AF65-F5344CB8AC3E}">
        <p14:creationId xmlns:p14="http://schemas.microsoft.com/office/powerpoint/2010/main" val="1415293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Just to set the scene briefly for anyone who may be new to this specific workstream.</a:t>
            </a:r>
          </a:p>
          <a:p>
            <a:endParaRPr dirty="0"/>
          </a:p>
          <a:p>
            <a:r>
              <a:rPr dirty="0"/>
              <a:t>SmartCORE NWE is an Interreg North-West Europe project involving research partners from Ireland, the UK, Belgium, France, and the Netherlands. The overarching goal is to demonstrate community-scale smart energy management — helping households and communities reduce their energy costs and their carbon footprint.</a:t>
            </a:r>
          </a:p>
          <a:p>
            <a:endParaRPr dirty="0"/>
          </a:p>
          <a:p>
            <a:r>
              <a:rPr dirty="0"/>
              <a:t>Within that wider project, MTU leads the Ireland pilot workstream. Our specific job is to design and build the HEMS hardware and software stack — the physical box that goes into a home and does the energy monitoring.</a:t>
            </a:r>
          </a:p>
          <a:p>
            <a:endParaRPr dirty="0"/>
          </a:p>
          <a:p>
            <a:r>
              <a:rPr dirty="0"/>
              <a:t>We then target deploying these units into pilot homes across the Munster region. The numbers we're working towards are at least twenty homes, providing fifteen-minute resolution energy data that feeds into the SmartCORE European data platform.</a:t>
            </a:r>
          </a:p>
          <a:p>
            <a:endParaRPr dirty="0"/>
          </a:p>
          <a:p>
            <a:r>
              <a:rPr dirty="0"/>
              <a:t>One of the things I'll </a:t>
            </a:r>
            <a:r>
              <a:rPr dirty="0" err="1"/>
              <a:t>emphasise</a:t>
            </a:r>
            <a:r>
              <a:rPr dirty="0"/>
              <a:t> throughout this presentation is that everything we're building is open-source, remotely manageable, and designed so that any partner </a:t>
            </a:r>
            <a:r>
              <a:rPr dirty="0" err="1"/>
              <a:t>organisation</a:t>
            </a:r>
            <a:r>
              <a:rPr dirty="0"/>
              <a:t> could in principle pick up the same design and deploy it in their own country without starting from scratch.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why are we building something ourselves rather than buying an off-the-shelf product? That's a fair question and I want to address it directly.</a:t>
            </a:r>
          </a:p>
          <a:p>
            <a:endParaRPr/>
          </a:p>
          <a:p>
            <a:r>
              <a:t>There are four core problems we identified.</a:t>
            </a:r>
          </a:p>
          <a:p>
            <a:endParaRPr/>
          </a:p>
          <a:p>
            <a:r>
              <a:t>First: the sensor ecosystem is fragmented. Smart home devices use different wireless protocols — Zigbee, Z-Wave, Bluetooth — and most commercial hubs don't give you raw data access. They give you a mobile app and a cloud subscription, and that's it.</a:t>
            </a:r>
          </a:p>
          <a:p>
            <a:endParaRPr/>
          </a:p>
          <a:p>
            <a:r>
              <a:t>Second: data sovereignty. For a research project, we need the raw energy data. We can't rely on a vendor's API that might change, or have data filtered or aggregated before we see it. And from a GDPR perspective, having home energy data flowing through a third-party cloud server in the US raises real compliance questions.</a:t>
            </a:r>
          </a:p>
          <a:p>
            <a:endParaRPr/>
          </a:p>
          <a:p>
            <a:r>
              <a:t>Third: remote manageability. Once we deploy twenty or thirty boxes across homes in Munster, we cannot send an engineer to each house every time there's a software update or a bug fix. The system has to update itself, heal itself, and keep running without any on-site intervention.</a:t>
            </a:r>
          </a:p>
          <a:p>
            <a:endParaRPr/>
          </a:p>
          <a:p>
            <a:r>
              <a:t>And fourth: we need an open, extensible research platform. Off-the-shelf products are black boxes. We need to be able to add new sensors, change data processing pipelines, export data in different formats, and integrate with the SmartCORE European platform — none of which is possible with consumer products.</a:t>
            </a:r>
          </a:p>
          <a:p>
            <a:endParaRPr/>
          </a:p>
          <a:p>
            <a:r>
              <a:t>Those four constraints are what drove us to build our own stack.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what exactly is the HEMS box? Let me describe it in concrete terms.</a:t>
            </a:r>
          </a:p>
          <a:p>
            <a:endParaRPr dirty="0"/>
          </a:p>
          <a:p>
            <a:r>
              <a:rPr dirty="0"/>
              <a:t>On the hardware side, it's built around a Raspberry Pi 5. That's a small, low-power single-board computer — roughly the size of a credit card, runs on about five watts, and costs around eighty euros. It runs a </a:t>
            </a:r>
            <a:r>
              <a:rPr dirty="0" err="1"/>
              <a:t>specialised</a:t>
            </a:r>
            <a:r>
              <a:rPr dirty="0"/>
              <a:t> operating system called </a:t>
            </a:r>
            <a:r>
              <a:rPr dirty="0" err="1"/>
              <a:t>BalenaOS</a:t>
            </a:r>
            <a:r>
              <a:rPr dirty="0"/>
              <a:t>, which is purpose-built for running </a:t>
            </a:r>
            <a:r>
              <a:rPr dirty="0" err="1"/>
              <a:t>containerised</a:t>
            </a:r>
            <a:r>
              <a:rPr dirty="0"/>
              <a:t> applications on edge devices.</a:t>
            </a:r>
          </a:p>
          <a:p>
            <a:endParaRPr dirty="0"/>
          </a:p>
          <a:p>
            <a:r>
              <a:rPr dirty="0"/>
              <a:t>Plugged into the Pi via USB is a </a:t>
            </a:r>
            <a:r>
              <a:rPr dirty="0" err="1"/>
              <a:t>Sonoff</a:t>
            </a:r>
            <a:r>
              <a:rPr dirty="0"/>
              <a:t> </a:t>
            </a:r>
            <a:r>
              <a:rPr dirty="0" err="1"/>
              <a:t>ZBDongle</a:t>
            </a:r>
            <a:r>
              <a:rPr dirty="0"/>
              <a:t>-E — this is a Zigbee coordinator stick. Zigbee is the wireless protocol used by many smart home sensors, and this dongle acts as the radio gateway that lets the Pi talk to those sensors.</a:t>
            </a:r>
          </a:p>
          <a:p>
            <a:endParaRPr dirty="0"/>
          </a:p>
          <a:p>
            <a:r>
              <a:rPr dirty="0"/>
              <a:t>The sensor we're currently working with is the </a:t>
            </a:r>
            <a:r>
              <a:rPr dirty="0" err="1"/>
              <a:t>Frient</a:t>
            </a:r>
            <a:r>
              <a:rPr dirty="0"/>
              <a:t> SMSZB-120, which is a smart meter interface device. It clips onto the optical port of an Irish smart meter, counts the infrared blink pulses the meter emits, and converts those into real-time power readings in watts and cumulative energy readings in kilowatt-hours. It communicates back to the Pi over Zigbee.</a:t>
            </a:r>
          </a:p>
          <a:p>
            <a:endParaRPr dirty="0"/>
          </a:p>
          <a:p>
            <a:r>
              <a:rPr dirty="0"/>
              <a:t>On the software side, everything runs as Docker containers — eight separate services, all managed together using Docker Compose. I'll walk through what each of those services does in a moment.</a:t>
            </a:r>
          </a:p>
          <a:p>
            <a:endParaRPr dirty="0"/>
          </a:p>
          <a:p>
            <a:r>
              <a:rPr dirty="0"/>
              <a:t>The key design principles are: fully open-source throughout, no cloud dependency — the system works completely offline if needed — self-healing and self-updating via the </a:t>
            </a:r>
            <a:r>
              <a:rPr dirty="0" err="1"/>
              <a:t>BalenaOS</a:t>
            </a:r>
            <a:r>
              <a:rPr dirty="0"/>
              <a:t> infrastructure, extensible without hardware changes, and providing research-grade data access.</a:t>
            </a:r>
          </a:p>
          <a:p>
            <a:endParaRPr dirty="0"/>
          </a:p>
          <a:p>
            <a:r>
              <a:rPr dirty="0"/>
              <a:t>Think of it as a small, silent, self-managing computer that lives in a kitchen cupboard and watches the electricity meter.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me show you the architecture — how all the pieces fit together.</a:t>
            </a:r>
          </a:p>
          <a:p>
            <a:endParaRPr/>
          </a:p>
          <a:p>
            <a:r>
              <a:t>Everything you see here runs on a single Raspberry Pi 5. The outer box represents the Pi itself, running BalenaOS. Inside that, we have a Docker bridge network — a private internal network with the IP range 172.18.4.0/24. Each container gets its own fixed IP address on that network, which makes the system predictable and easy to debug.</a:t>
            </a:r>
          </a:p>
          <a:p>
            <a:endParaRPr/>
          </a:p>
          <a:p>
            <a:r>
              <a:t>Starting from the bottom: the Sonoff ZBDongle-E USB stick is passed directly into the Home Assistant container. Next to it is the Frient sensor, communicating over Zigbee 802.15.4 radio.</a:t>
            </a:r>
          </a:p>
          <a:p>
            <a:endParaRPr/>
          </a:p>
          <a:p>
            <a:r>
              <a:t>In the top row, you have our four core services. Home Assistant at 172.18.4.2 is the central hub — it manages the Zigbee network, processes sensor data, and provides the user dashboard. InfluxDB at 172.18.4.3 is our time-series database where all historical energy data is stored. The Nginx reverse proxy at 172.18.4.4 sits in front of everything and provides a single secure entry point on port 80. And Mosquitto at 172.18.4.7 is our MQTT message broker — more on that in a moment.</a:t>
            </a:r>
          </a:p>
          <a:p>
            <a:endParaRPr/>
          </a:p>
          <a:p>
            <a:r>
              <a:t>In the second row: hass-configurator provides a browser-based editor for the Home Assistant configuration files. The led-status container drives three physical LEDs on the Pi's GPIO pins to give a visual health indication. The system-manager is a watchdog process that keeps everything running. And wifi-connect handles the initial WiFi setup when the box is first installed in a home.</a:t>
            </a:r>
          </a:p>
          <a:p>
            <a:endParaRPr/>
          </a:p>
          <a:p>
            <a:r>
              <a:t>On the right, you can see the BalenaOS Supervisor — the daemon that communicates with Balena Cloud and handles over-the-air updates.</a:t>
            </a:r>
          </a:p>
          <a:p>
            <a:endParaRPr/>
          </a:p>
          <a:p>
            <a:r>
              <a:t>The whole thing is entirely self-contained. Unplug it, move it to a different home, power it on, and it just works.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trace the path that energy data takes from the physical meter all the way through to the database, because I think this is where the elegance of the system becomes clear.</a:t>
            </a:r>
          </a:p>
          <a:p>
            <a:endParaRPr/>
          </a:p>
          <a:p>
            <a:r>
              <a:t>It starts with the smart meter itself. Irish smart meters emit an infrared pulse for every watt-hour of electricity consumed. The Frient sensor clips over that optical port and counts those pulses, converting them into power in watts and cumulative energy in kilowatt-hours.</a:t>
            </a:r>
          </a:p>
          <a:p>
            <a:endParaRPr/>
          </a:p>
          <a:p>
            <a:r>
              <a:t>The Frient sensor sends those readings wirelessly over Zigbee to the Sonoff USB dongle plugged into the Pi.</a:t>
            </a:r>
          </a:p>
          <a:p>
            <a:endParaRPr/>
          </a:p>
          <a:p>
            <a:r>
              <a:t>The dongle passes the Zigbee radio frames to Home Assistant via a USB serial connection, where the ZHA integration — that stands for Zigbee Home Automation — decodes them and updates the entity states in the Home Assistant state machine. So at this point, Home Assistant knows the current power reading.</a:t>
            </a:r>
          </a:p>
          <a:p>
            <a:endParaRPr/>
          </a:p>
          <a:p>
            <a:r>
              <a:t>The InfluxDB integration inside Home Assistant then automatically writes every state change to the InfluxDB database over HTTP, using InfluxDB's line protocol format. This happens without any custom code — it's built into Home Assistant.</a:t>
            </a:r>
          </a:p>
          <a:p>
            <a:endParaRPr/>
          </a:p>
          <a:p>
            <a:r>
              <a:t>And that's it. From physical pulse to queryable time-series data, with no custom middleware, no bespoke code, just configuration.</a:t>
            </a:r>
          </a:p>
          <a:p>
            <a:endParaRPr/>
          </a:p>
          <a:p>
            <a:r>
              <a:t>I want to flag one thing for the technically curious: you'll see at the bottom that we have a note about MQTT. We do have a Mosquitto MQTT broker running in the stack, but in the current ZHA deployment, it's actually idle — Zigbee data doesn't pass through it. We have an alternative architecture using Zigbee2MQTT that routes everything through MQTT, which opens up more advanced use cases, and I'll cover that on slide ten.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quickly walk through what each service actually does, because I want to give you a sense of how well-established and battle-tested each component is — we haven't had to write any of these from scratch.</a:t>
            </a:r>
          </a:p>
          <a:p>
            <a:endParaRPr/>
          </a:p>
          <a:p>
            <a:r>
              <a:t>Home Assistant is the largest open-source home automation project in the world, with over a million active installations. We use it as our data hub, Zigbee manager, and dashboard. It's the thing a householder would interact with.</a:t>
            </a:r>
          </a:p>
          <a:p>
            <a:endParaRPr/>
          </a:p>
          <a:p>
            <a:r>
              <a:t>InfluxDB is a purpose-built time-series database, widely used in industrial IoT and monitoring applications. Every sensor reading — timestamped to the second — goes in here and can be queried historically.</a:t>
            </a:r>
          </a:p>
          <a:p>
            <a:endParaRPr/>
          </a:p>
          <a:p>
            <a:r>
              <a:t>Nginx is a battle-hardened web server and reverse proxy. It's the gatekeeper — all web traffic comes in through it, it enforces basic authentication, and it routes requests to the right backend service.</a:t>
            </a:r>
          </a:p>
          <a:p>
            <a:endParaRPr/>
          </a:p>
          <a:p>
            <a:r>
              <a:t>The system-manager is the piece we wrote ourselves. It's a Python watchdog script that runs every thirty seconds. It checks whether a new software release has been pushed from Balena Cloud, and if so, gracefully restarts Home Assistant to pick up the changes. It also monitors internet connectivity and will reboot the Pi if the connection has been down for more than thirty minutes — because in a pilot home, we may not notice for days otherwise.</a:t>
            </a:r>
          </a:p>
          <a:p>
            <a:endParaRPr/>
          </a:p>
          <a:p>
            <a:r>
              <a:t>The led-status service is also ours. It drives three LEDs on the Pi's GPIO pins: green for Home Assistant healthy, blue for internet alive, and red if there are errors in the Home Assistant log. A green board is a happy board — even a non-technical householder can glance at it.</a:t>
            </a:r>
          </a:p>
          <a:p>
            <a:endParaRPr/>
          </a:p>
          <a:p>
            <a:r>
              <a:t>And Mosquitto is our MQTT message broker — lightweight, reliable, and the standard protocol for IoT messaging. It's ready and waiting for when we activate the Zigbee2MQTT path.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things I'm most proud of in this system is the self-healing capability, because it's what makes large-scale pilot deployment actually feasible.</a:t>
            </a:r>
          </a:p>
          <a:p>
            <a:endParaRPr/>
          </a:p>
          <a:p>
            <a:r>
              <a:t>Think about the logistics: twenty or thirty homes, spread across Munster, with a box running in each one. We cannot have a situation where one box gets a software bug and we have to drive out to the house to fix it. That's not sustainable.</a:t>
            </a:r>
          </a:p>
          <a:p>
            <a:endParaRPr/>
          </a:p>
          <a:p>
            <a:r>
              <a:t>BalenaOS solves the update problem completely. When we push a new Docker image to Balena Cloud, every device in the fleet automatically pulls the update and restarts the relevant container. Zero intervention required. We can fix a bug at eleven o'clock at night and have it deployed to all homes by midnight.</a:t>
            </a:r>
          </a:p>
          <a:p>
            <a:endParaRPr/>
          </a:p>
          <a:p>
            <a:r>
              <a:t>The system-manager watchdog handles the failure cases. If Home Assistant crashes or becomes unresponsive, the watchdog detects it and restarts it. If the internet goes down — which does happen in rural Irish homes — the watchdog waits thirty minutes and then reboots the entire Pi, which usually resolves connectivity issues caused by router or ISP problems.</a:t>
            </a:r>
          </a:p>
          <a:p>
            <a:endParaRPr/>
          </a:p>
          <a:p>
            <a:r>
              <a:t>The WiFi onboarding piece is important for the pilot deployment experience. When a box is first installed in a home, it has no WiFi credentials. What happens is: it broadcasts its own temporary WiFi network. The householder connects their phone to that network, gets a captive portal page — similar to what you'd see in a hotel — where they select their home WiFi and enter the password. The box connects, and that's the only time any technical setup is needed.</a:t>
            </a:r>
          </a:p>
          <a:p>
            <a:endParaRPr/>
          </a:p>
          <a:p>
            <a:r>
              <a:t>The physical LEDs are the last piece of the self-healing story. They give the householder a way to report back to us — "I can see the red light is on" — without needing to understand anything about the software.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I want to talk about where the system goes from here, because one of the key design decisions was to make this extensible without needing hardware changes.</a:t>
            </a:r>
          </a:p>
          <a:p>
            <a:endParaRPr dirty="0"/>
          </a:p>
          <a:p>
            <a:r>
              <a:rPr dirty="0"/>
              <a:t>The first extension I want to highlight is the Zigbee2MQTT alternative architecture. Currently, Zigbee data goes directly into Home Assistant via the ZHA integration. An alternative — which we've designed and documented but not yet activated — is to run a Zigbee2MQTT container instead. This routes all Zigbee data through the MQTT broker first. Why does that matter? Because with MQTT, multiple services can subscribe to the same data stream simultaneously. So you could have Home Assistant, a custom analytics service, and a cloud uploader all receiving the same sensor readings in parallel, without any of them interfering with the others. </a:t>
            </a:r>
            <a:endParaRPr lang="en-GB" dirty="0"/>
          </a:p>
          <a:p>
            <a:endParaRPr dirty="0"/>
          </a:p>
          <a:p>
            <a:r>
              <a:rPr dirty="0"/>
              <a:t>For mobile access — so researchers or householders can check their energy data from outside the home — we have two options designed and ready to implement. The first is </a:t>
            </a:r>
            <a:r>
              <a:rPr dirty="0" err="1"/>
              <a:t>Tailscale</a:t>
            </a:r>
            <a:r>
              <a:rPr dirty="0"/>
              <a:t>, which creates a peer-to-peer VPN tunnel to the Pi. The second is Cloudflare Tunnel, which gives the box a public HTTPS URL without needing to open any ports on the home router. Both are activated by adding a single container and an API key — no code changes to the existing stack.</a:t>
            </a:r>
          </a:p>
          <a:p>
            <a:endParaRPr dirty="0"/>
          </a:p>
          <a:p>
            <a:r>
              <a:rPr dirty="0"/>
              <a:t>And finally, for data export to the SmartCORE EU platform, the </a:t>
            </a:r>
            <a:r>
              <a:rPr dirty="0" err="1"/>
              <a:t>InfluxDB</a:t>
            </a:r>
            <a:r>
              <a:rPr dirty="0"/>
              <a:t> REST API is the natural integration point.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want to be clear about what MTU has specifically contributed to this project, because I think it's significant.</a:t>
            </a:r>
          </a:p>
          <a:p>
            <a:endParaRPr/>
          </a:p>
          <a:p>
            <a:r>
              <a:t>We've built a complete, open-source, production-ready HEMS software stack from the ground up. Everything is containerised, reproducible, and version-controlled. Any engineer can clone the repository, run a single command, and have the entire system running — either on a Pi or on their own laptop for development.</a:t>
            </a:r>
          </a:p>
          <a:p>
            <a:endParaRPr/>
          </a:p>
          <a:p>
            <a:r>
              <a:t>We've validated this on Raspberry Pi 5 hardware specifically — and that's non-trivial, because the Pi 5 has architectural differences from previous Pi versions that required patches. In particular, the GPIO subsystem uses a different chip number, which broke the LED status software until we identified and fixed it.</a:t>
            </a:r>
          </a:p>
          <a:p>
            <a:endParaRPr/>
          </a:p>
          <a:p>
            <a:r>
              <a:t>We've written detailed technical documentation: a full architecture reference, a per-component guide, and a technical reference for the MQTT and mobile access architecture. This means that if any partner wants to understand the system, or if a new team member joins the project, the documentation is there.</a:t>
            </a:r>
          </a:p>
          <a:p>
            <a:endParaRPr/>
          </a:p>
          <a:p>
            <a:r>
              <a:t>In terms of research outputs, we're planning a peer-reviewed publication on the architecture, an anonymised dataset from the pilot homes, and a comparison study between the ZHA and Zigbee2MQTT approaches.</a:t>
            </a:r>
          </a:p>
          <a:p>
            <a:endParaRPr/>
          </a:p>
          <a:p>
            <a:r>
              <a:t>In terms of technology readiness — we're transitioning from TRL 4, which is lab validation, to TRL 5, which is pilot-validated. The core stack is functional and confirmed end-to-end on real hardware. Pilot deployment tooling is the next step.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bring you up to date on where we are right now and what the next twelve months look like.</a:t>
            </a:r>
          </a:p>
          <a:p>
            <a:endParaRPr/>
          </a:p>
          <a:p>
            <a:r>
              <a:t>Looking at the six status indicators across the top: the stack is running — all eight containers are operational on Pi 5 hardware. Sensor data is flowing end-to-end from the Frient sensor through to InfluxDB, confirmed in the lab. Over-the-air updates via BalenaOS have been validated. And the self-healing watchdog has been tested for both the HA restart and the device reboot scenarios.</a:t>
            </a:r>
          </a:p>
          <a:p>
            <a:endParaRPr/>
          </a:p>
          <a:p>
            <a:r>
              <a:t>Mobile access is in an intermediate state — the architecture is fully designed and documented, and the implementation is straightforward, but it's not yet activated. And pilot home deployment is where our focus is now — we're in the site survey phase and targeting first installations in Q3 of this year.</a:t>
            </a:r>
          </a:p>
          <a:p>
            <a:endParaRPr/>
          </a:p>
          <a:p>
            <a:r>
              <a:t>On the roadmap: Q2 2026 is about pilot preparation — finalising the deployment tooling, activating mobile access, and hardening the MQTT security before we put boxes into homes. Q3 is the first wave of pilot deployments, targeting five to ten homes with live data flowing to the SmartCORE platform. Q4 is about scaling to twenty homes and starting the energy baseline analysis. And by 2027 we're looking at full dataset analysis, a second-generation HEMS design based on what we learn, and sharing results across all NWE partner countries.</a:t>
            </a:r>
          </a:p>
          <a:p>
            <a:endParaRPr/>
          </a:p>
          <a:p>
            <a:r>
              <a:t>The short version: the system works, we're ready to deploy, and the focus now is execution.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that brings me to the end of the presentation.</a:t>
            </a:r>
          </a:p>
          <a:p>
            <a:endParaRPr/>
          </a:p>
          <a:p>
            <a:r>
              <a:t>To summarise in three sentences: MTU has built an open-source, self-healing, containerised energy monitoring gateway on Raspberry Pi 5 hardware. It captures real-time energy data from smart meters via Zigbee sensors and stores it in a local time-series database. It's designed to be deployed in pilot homes with zero on-site maintenance and full remote manageability.</a:t>
            </a:r>
          </a:p>
          <a:p>
            <a:endParaRPr/>
          </a:p>
          <a:p>
            <a:r>
              <a:t>The system is working in the lab, and we're ready to start deploying.</a:t>
            </a:r>
          </a:p>
          <a:p>
            <a:endParaRPr/>
          </a:p>
          <a:p>
            <a:r>
              <a:t>I'm very happy to take questions now — whether on the technical architecture, the deployment approach, or how this integrates with what other partners are building. And if any of you want to go deeper on any aspect — particularly if you're thinking about replicating something similar in your own country — please do come and find me afterwards.</a:t>
            </a:r>
          </a:p>
          <a:p>
            <a:endParaRPr/>
          </a:p>
          <a:p>
            <a:r>
              <a:t>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0"/>
            <a:ext cx="12188952" cy="54864"/>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80160"/>
            <a:ext cx="10972800" cy="1463040"/>
          </a:xfrm>
          <a:prstGeom prst="rect">
            <a:avLst/>
          </a:prstGeom>
          <a:noFill/>
        </p:spPr>
        <p:txBody>
          <a:bodyPr wrap="square">
            <a:spAutoFit/>
          </a:bodyPr>
          <a:lstStyle/>
          <a:p>
            <a:pPr algn="l"/>
            <a:r>
              <a:rPr sz="4800" b="1" i="0">
                <a:solidFill>
                  <a:srgbClr val="FFFFFF"/>
                </a:solidFill>
              </a:rPr>
              <a:t>SmartCORE HEMS Box</a:t>
            </a:r>
          </a:p>
        </p:txBody>
      </p:sp>
      <p:sp>
        <p:nvSpPr>
          <p:cNvPr id="5" name="TextBox 4"/>
          <p:cNvSpPr txBox="1"/>
          <p:nvPr/>
        </p:nvSpPr>
        <p:spPr>
          <a:xfrm>
            <a:off x="548640" y="2560320"/>
            <a:ext cx="10972800" cy="640080"/>
          </a:xfrm>
          <a:prstGeom prst="rect">
            <a:avLst/>
          </a:prstGeom>
          <a:noFill/>
        </p:spPr>
        <p:txBody>
          <a:bodyPr wrap="square">
            <a:spAutoFit/>
          </a:bodyPr>
          <a:lstStyle/>
          <a:p>
            <a:pPr algn="l"/>
            <a:r>
              <a:rPr sz="2200" b="0" i="0">
                <a:solidFill>
                  <a:srgbClr val="F0AB00"/>
                </a:solidFill>
              </a:rPr>
              <a:t>Home Energy Management System — Research Development</a:t>
            </a:r>
          </a:p>
        </p:txBody>
      </p:sp>
      <p:sp>
        <p:nvSpPr>
          <p:cNvPr id="6" name="TextBox 5"/>
          <p:cNvSpPr txBox="1"/>
          <p:nvPr/>
        </p:nvSpPr>
        <p:spPr>
          <a:xfrm>
            <a:off x="548640" y="3246120"/>
            <a:ext cx="10972800" cy="457200"/>
          </a:xfrm>
          <a:prstGeom prst="rect">
            <a:avLst/>
          </a:prstGeom>
          <a:noFill/>
        </p:spPr>
        <p:txBody>
          <a:bodyPr wrap="square">
            <a:spAutoFit/>
          </a:bodyPr>
          <a:lstStyle/>
          <a:p>
            <a:pPr algn="l"/>
            <a:r>
              <a:rPr sz="1700" b="0" i="0">
                <a:solidFill>
                  <a:srgbClr val="FFFFFF"/>
                </a:solidFill>
              </a:rPr>
              <a:t>Munster Technological University  |  Interreg NWE SmartCORE</a:t>
            </a:r>
          </a:p>
        </p:txBody>
      </p:sp>
      <p:sp>
        <p:nvSpPr>
          <p:cNvPr id="8" name="Rectangle 7"/>
          <p:cNvSpPr/>
          <p:nvPr/>
        </p:nvSpPr>
        <p:spPr>
          <a:xfrm>
            <a:off x="548640" y="5029200"/>
            <a:ext cx="2377440" cy="1188720"/>
          </a:xfrm>
          <a:prstGeom prst="rect">
            <a:avLst/>
          </a:prstGeom>
          <a:solidFill>
            <a:srgbClr val="002060"/>
          </a:solidFill>
          <a:ln w="19050">
            <a:solidFill>
              <a:srgbClr val="F0A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3B54FFBD-A730-CDF7-D51C-5DDF12B3BD2D}"/>
              </a:ext>
            </a:extLst>
          </p:cNvPr>
          <p:cNvPicPr>
            <a:picLocks noChangeAspect="1"/>
          </p:cNvPicPr>
          <p:nvPr/>
        </p:nvPicPr>
        <p:blipFill>
          <a:blip r:embed="rId3"/>
          <a:stretch>
            <a:fillRect/>
          </a:stretch>
        </p:blipFill>
        <p:spPr>
          <a:xfrm>
            <a:off x="693699" y="5257800"/>
            <a:ext cx="2072170" cy="6581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4B5916-8685-9272-73E1-EC15ED6F1426}"/>
              </a:ext>
            </a:extLst>
          </p:cNvPr>
          <p:cNvPicPr>
            <a:picLocks noChangeAspect="1"/>
          </p:cNvPicPr>
          <p:nvPr/>
        </p:nvPicPr>
        <p:blipFill>
          <a:blip r:embed="rId3"/>
          <a:stretch>
            <a:fillRect/>
          </a:stretch>
        </p:blipFill>
        <p:spPr>
          <a:xfrm>
            <a:off x="3088638" y="628226"/>
            <a:ext cx="5857343" cy="5601547"/>
          </a:xfrm>
          <a:prstGeom prst="rect">
            <a:avLst/>
          </a:prstGeom>
        </p:spPr>
      </p:pic>
    </p:spTree>
    <p:extLst>
      <p:ext uri="{BB962C8B-B14F-4D97-AF65-F5344CB8AC3E}">
        <p14:creationId xmlns:p14="http://schemas.microsoft.com/office/powerpoint/2010/main" val="2324502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11430000" cy="777240"/>
          </a:xfrm>
          <a:prstGeom prst="rect">
            <a:avLst/>
          </a:prstGeom>
          <a:noFill/>
        </p:spPr>
        <p:txBody>
          <a:bodyPr wrap="square">
            <a:spAutoFit/>
          </a:bodyPr>
          <a:lstStyle/>
          <a:p>
            <a:pPr algn="l"/>
            <a:r>
              <a:rPr sz="3200" b="1" i="0">
                <a:solidFill>
                  <a:srgbClr val="FFFFFF"/>
                </a:solidFill>
              </a:rPr>
              <a:t>SmartCORE NWE — Project Context</a:t>
            </a:r>
          </a:p>
        </p:txBody>
      </p:sp>
      <p:sp>
        <p:nvSpPr>
          <p:cNvPr id="5" name="TextBox 4"/>
          <p:cNvSpPr txBox="1"/>
          <p:nvPr/>
        </p:nvSpPr>
        <p:spPr>
          <a:xfrm>
            <a:off x="365760" y="804672"/>
            <a:ext cx="11430000" cy="411480"/>
          </a:xfrm>
          <a:prstGeom prst="rect">
            <a:avLst/>
          </a:prstGeom>
          <a:noFill/>
        </p:spPr>
        <p:txBody>
          <a:bodyPr wrap="square">
            <a:spAutoFit/>
          </a:bodyPr>
          <a:lstStyle/>
          <a:p>
            <a:pPr algn="l"/>
            <a:r>
              <a:rPr sz="1600" b="0" i="0" dirty="0">
                <a:solidFill>
                  <a:srgbClr val="F0AB00"/>
                </a:solidFill>
              </a:rPr>
              <a:t>Interreg North-West Europe  |  MTU's Role</a:t>
            </a:r>
          </a:p>
        </p:txBody>
      </p:sp>
      <p:sp>
        <p:nvSpPr>
          <p:cNvPr id="6" name="Rectangle 5"/>
          <p:cNvSpPr/>
          <p:nvPr/>
        </p:nvSpPr>
        <p:spPr>
          <a:xfrm>
            <a:off x="0" y="1325880"/>
            <a:ext cx="12188952" cy="36576"/>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83680"/>
            <a:ext cx="5486400" cy="274320"/>
          </a:xfrm>
          <a:prstGeom prst="rect">
            <a:avLst/>
          </a:prstGeom>
          <a:noFill/>
        </p:spPr>
        <p:txBody>
          <a:bodyPr wrap="square">
            <a:spAutoFit/>
          </a:bodyPr>
          <a:lstStyle/>
          <a:p>
            <a:pPr algn="l"/>
            <a:r>
              <a:rPr sz="1000" b="0" i="0">
                <a:solidFill>
                  <a:srgbClr val="FFFFFF"/>
                </a:solidFill>
              </a:rPr>
              <a:t>MTU SmartCORE HEMS</a:t>
            </a:r>
          </a:p>
        </p:txBody>
      </p:sp>
      <p:sp>
        <p:nvSpPr>
          <p:cNvPr id="9" name="TextBox 8"/>
          <p:cNvSpPr txBox="1"/>
          <p:nvPr/>
        </p:nvSpPr>
        <p:spPr>
          <a:xfrm>
            <a:off x="6400800" y="6583680"/>
            <a:ext cx="5486400" cy="274320"/>
          </a:xfrm>
          <a:prstGeom prst="rect">
            <a:avLst/>
          </a:prstGeom>
          <a:noFill/>
        </p:spPr>
        <p:txBody>
          <a:bodyPr wrap="square">
            <a:spAutoFit/>
          </a:bodyPr>
          <a:lstStyle/>
          <a:p>
            <a:pPr algn="r"/>
            <a:r>
              <a:rPr sz="1000" b="0" i="0">
                <a:solidFill>
                  <a:srgbClr val="F0AB00"/>
                </a:solidFill>
              </a:rPr>
              <a:t>Interreg NWE SmartCORE</a:t>
            </a:r>
          </a:p>
        </p:txBody>
      </p:sp>
      <p:sp>
        <p:nvSpPr>
          <p:cNvPr id="10" name="TextBox 9"/>
          <p:cNvSpPr txBox="1"/>
          <p:nvPr/>
        </p:nvSpPr>
        <p:spPr>
          <a:xfrm>
            <a:off x="365760" y="1463040"/>
            <a:ext cx="5486400" cy="2970044"/>
          </a:xfrm>
          <a:prstGeom prst="rect">
            <a:avLst/>
          </a:prstGeom>
          <a:noFill/>
        </p:spPr>
        <p:txBody>
          <a:bodyPr wrap="square">
            <a:spAutoFit/>
          </a:bodyPr>
          <a:lstStyle/>
          <a:p>
            <a:pPr algn="l"/>
            <a:r>
              <a:rPr sz="1700" dirty="0">
                <a:solidFill>
                  <a:srgbClr val="333333"/>
                </a:solidFill>
              </a:rPr>
              <a:t>• Interreg NWE transnational research project</a:t>
            </a:r>
          </a:p>
          <a:p>
            <a:pPr algn="l"/>
            <a:r>
              <a:rPr sz="1700" dirty="0">
                <a:solidFill>
                  <a:srgbClr val="333333"/>
                </a:solidFill>
              </a:rPr>
              <a:t>• Partners across Ireland, </a:t>
            </a:r>
            <a:r>
              <a:rPr lang="en-GB" sz="1700" dirty="0">
                <a:solidFill>
                  <a:srgbClr val="333333"/>
                </a:solidFill>
              </a:rPr>
              <a:t>Luxemburg</a:t>
            </a:r>
            <a:r>
              <a:rPr sz="1700" dirty="0">
                <a:solidFill>
                  <a:srgbClr val="333333"/>
                </a:solidFill>
              </a:rPr>
              <a:t>, Belgium, France, Netherlands</a:t>
            </a:r>
          </a:p>
          <a:p>
            <a:pPr algn="l"/>
            <a:r>
              <a:rPr sz="1700" dirty="0">
                <a:solidFill>
                  <a:srgbClr val="333333"/>
                </a:solidFill>
              </a:rPr>
              <a:t>• Focus: Community-scale smart energy management</a:t>
            </a:r>
          </a:p>
          <a:p>
            <a:pPr algn="l"/>
            <a:r>
              <a:rPr sz="1700" dirty="0">
                <a:solidFill>
                  <a:srgbClr val="333333"/>
                </a:solidFill>
              </a:rPr>
              <a:t>• Objective: Reduce household energy costs &amp; carbon footprint</a:t>
            </a:r>
          </a:p>
          <a:p>
            <a:pPr algn="l"/>
            <a:endParaRPr sz="1700" dirty="0">
              <a:solidFill>
                <a:srgbClr val="333333"/>
              </a:solidFill>
            </a:endParaRPr>
          </a:p>
          <a:p>
            <a:pPr algn="l"/>
            <a:r>
              <a:rPr sz="1700" dirty="0">
                <a:solidFill>
                  <a:srgbClr val="333333"/>
                </a:solidFill>
              </a:rPr>
              <a:t>• MTU leads the Ireland pilot workstream</a:t>
            </a:r>
          </a:p>
          <a:p>
            <a:pPr algn="l"/>
            <a:r>
              <a:rPr sz="1700" dirty="0">
                <a:solidFill>
                  <a:srgbClr val="333333"/>
                </a:solidFill>
              </a:rPr>
              <a:t>• Responsible for: HEMS hardware + software stack development</a:t>
            </a:r>
          </a:p>
          <a:p>
            <a:pPr algn="l"/>
            <a:r>
              <a:rPr sz="1700" dirty="0">
                <a:solidFill>
                  <a:srgbClr val="333333"/>
                </a:solidFill>
              </a:rPr>
              <a:t>• Target: Deploy HEMS units in Irish pilot homes</a:t>
            </a:r>
          </a:p>
        </p:txBody>
      </p:sp>
      <p:sp>
        <p:nvSpPr>
          <p:cNvPr id="11" name="Rectangle 10"/>
          <p:cNvSpPr/>
          <p:nvPr/>
        </p:nvSpPr>
        <p:spPr>
          <a:xfrm>
            <a:off x="6126480" y="1554480"/>
            <a:ext cx="5669280" cy="2103120"/>
          </a:xfrm>
          <a:prstGeom prst="rect">
            <a:avLst/>
          </a:prstGeom>
          <a:solidFill>
            <a:srgbClr val="F2F2F2"/>
          </a:solidFill>
          <a:ln w="25400">
            <a:solidFill>
              <a:srgbClr val="F0A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26480" y="1554480"/>
            <a:ext cx="5669280" cy="347472"/>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36208" y="1572768"/>
            <a:ext cx="5486400" cy="329184"/>
          </a:xfrm>
          <a:prstGeom prst="rect">
            <a:avLst/>
          </a:prstGeom>
          <a:noFill/>
        </p:spPr>
        <p:txBody>
          <a:bodyPr wrap="square">
            <a:spAutoFit/>
          </a:bodyPr>
          <a:lstStyle/>
          <a:p>
            <a:pPr algn="l"/>
            <a:r>
              <a:rPr sz="1300" b="1" i="0">
                <a:solidFill>
                  <a:srgbClr val="FFFFFF"/>
                </a:solidFill>
              </a:rPr>
              <a:t>MTU Research Role</a:t>
            </a:r>
          </a:p>
        </p:txBody>
      </p:sp>
      <p:sp>
        <p:nvSpPr>
          <p:cNvPr id="14" name="TextBox 13"/>
          <p:cNvSpPr txBox="1"/>
          <p:nvPr/>
        </p:nvSpPr>
        <p:spPr>
          <a:xfrm>
            <a:off x="6236208" y="1938528"/>
            <a:ext cx="5486400" cy="1645920"/>
          </a:xfrm>
          <a:prstGeom prst="rect">
            <a:avLst/>
          </a:prstGeom>
          <a:noFill/>
        </p:spPr>
        <p:txBody>
          <a:bodyPr wrap="square">
            <a:spAutoFit/>
          </a:bodyPr>
          <a:lstStyle/>
          <a:p>
            <a:r>
              <a:rPr sz="1300">
                <a:solidFill>
                  <a:srgbClr val="333333"/>
                </a:solidFill>
              </a:rPr>
              <a:t>Design &amp; build open-source HEMS gateway</a:t>
            </a:r>
          </a:p>
          <a:p>
            <a:r>
              <a:rPr sz="1300">
                <a:solidFill>
                  <a:srgbClr val="333333"/>
                </a:solidFill>
              </a:rPr>
              <a:t>Containerised, remotely manageable</a:t>
            </a:r>
          </a:p>
          <a:p>
            <a:r>
              <a:rPr sz="1300">
                <a:solidFill>
                  <a:srgbClr val="333333"/>
                </a:solidFill>
              </a:rPr>
              <a:t>Bridges Zigbee sensors → cloud analytics</a:t>
            </a:r>
          </a:p>
          <a:p>
            <a:r>
              <a:rPr sz="1300">
                <a:solidFill>
                  <a:srgbClr val="333333"/>
                </a:solidFill>
              </a:rPr>
              <a:t>Feeds SmartCORE data platform</a:t>
            </a:r>
          </a:p>
        </p:txBody>
      </p:sp>
      <p:sp>
        <p:nvSpPr>
          <p:cNvPr id="15" name="Rectangle 14"/>
          <p:cNvSpPr/>
          <p:nvPr/>
        </p:nvSpPr>
        <p:spPr>
          <a:xfrm>
            <a:off x="6126480" y="3840480"/>
            <a:ext cx="5669280" cy="2103120"/>
          </a:xfrm>
          <a:prstGeom prst="rect">
            <a:avLst/>
          </a:prstGeom>
          <a:solidFill>
            <a:srgbClr val="F2F2F2"/>
          </a:solidFill>
          <a:ln w="25400">
            <a:solidFill>
              <a:srgbClr val="009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26480" y="3840480"/>
            <a:ext cx="5669280" cy="347472"/>
          </a:xfrm>
          <a:prstGeom prst="rect">
            <a:avLst/>
          </a:prstGeom>
          <a:solidFill>
            <a:srgbClr val="009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36208" y="3858768"/>
            <a:ext cx="5486400" cy="329184"/>
          </a:xfrm>
          <a:prstGeom prst="rect">
            <a:avLst/>
          </a:prstGeom>
          <a:noFill/>
        </p:spPr>
        <p:txBody>
          <a:bodyPr wrap="square">
            <a:spAutoFit/>
          </a:bodyPr>
          <a:lstStyle/>
          <a:p>
            <a:pPr algn="l"/>
            <a:r>
              <a:rPr sz="1300" b="1" i="0">
                <a:solidFill>
                  <a:srgbClr val="FFFFFF"/>
                </a:solidFill>
              </a:rPr>
              <a:t>Key Metrics (Target)</a:t>
            </a:r>
          </a:p>
        </p:txBody>
      </p:sp>
      <p:sp>
        <p:nvSpPr>
          <p:cNvPr id="18" name="TextBox 17"/>
          <p:cNvSpPr txBox="1"/>
          <p:nvPr/>
        </p:nvSpPr>
        <p:spPr>
          <a:xfrm>
            <a:off x="6236208" y="4224528"/>
            <a:ext cx="5486400" cy="1645920"/>
          </a:xfrm>
          <a:prstGeom prst="rect">
            <a:avLst/>
          </a:prstGeom>
          <a:noFill/>
        </p:spPr>
        <p:txBody>
          <a:bodyPr wrap="square">
            <a:spAutoFit/>
          </a:bodyPr>
          <a:lstStyle/>
          <a:p>
            <a:r>
              <a:rPr sz="1300">
                <a:solidFill>
                  <a:srgbClr val="333333"/>
                </a:solidFill>
              </a:rPr>
              <a:t>≥ 20 pilot homes in Ireland</a:t>
            </a:r>
          </a:p>
          <a:p>
            <a:r>
              <a:rPr sz="1300">
                <a:solidFill>
                  <a:srgbClr val="333333"/>
                </a:solidFill>
              </a:rPr>
              <a:t>Real-time energy monitoring</a:t>
            </a:r>
          </a:p>
          <a:p>
            <a:r>
              <a:rPr sz="1300">
                <a:solidFill>
                  <a:srgbClr val="333333"/>
                </a:solidFill>
              </a:rPr>
              <a:t>15-min resolution data to EU platform</a:t>
            </a:r>
          </a:p>
          <a:p>
            <a:r>
              <a:rPr sz="1300">
                <a:solidFill>
                  <a:srgbClr val="333333"/>
                </a:solidFill>
              </a:rPr>
              <a:t>OTA updates — no on-site visits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11430000" cy="777240"/>
          </a:xfrm>
          <a:prstGeom prst="rect">
            <a:avLst/>
          </a:prstGeom>
          <a:noFill/>
        </p:spPr>
        <p:txBody>
          <a:bodyPr wrap="square">
            <a:spAutoFit/>
          </a:bodyPr>
          <a:lstStyle/>
          <a:p>
            <a:pPr algn="l"/>
            <a:r>
              <a:rPr sz="3200" b="1" i="0">
                <a:solidFill>
                  <a:srgbClr val="FFFFFF"/>
                </a:solidFill>
              </a:rPr>
              <a:t>The Challenge</a:t>
            </a:r>
          </a:p>
        </p:txBody>
      </p:sp>
      <p:sp>
        <p:nvSpPr>
          <p:cNvPr id="5" name="TextBox 4"/>
          <p:cNvSpPr txBox="1"/>
          <p:nvPr/>
        </p:nvSpPr>
        <p:spPr>
          <a:xfrm>
            <a:off x="365760" y="804672"/>
            <a:ext cx="11430000" cy="411480"/>
          </a:xfrm>
          <a:prstGeom prst="rect">
            <a:avLst/>
          </a:prstGeom>
          <a:noFill/>
        </p:spPr>
        <p:txBody>
          <a:bodyPr wrap="square">
            <a:spAutoFit/>
          </a:bodyPr>
          <a:lstStyle/>
          <a:p>
            <a:pPr algn="l"/>
            <a:r>
              <a:rPr sz="1600" b="0" i="0">
                <a:solidFill>
                  <a:srgbClr val="F0AB00"/>
                </a:solidFill>
              </a:rPr>
              <a:t>Why do we need a bespoke HEMS gateway?</a:t>
            </a:r>
          </a:p>
        </p:txBody>
      </p:sp>
      <p:sp>
        <p:nvSpPr>
          <p:cNvPr id="6" name="Rectangle 5"/>
          <p:cNvSpPr/>
          <p:nvPr/>
        </p:nvSpPr>
        <p:spPr>
          <a:xfrm>
            <a:off x="0" y="1325880"/>
            <a:ext cx="12188952" cy="36576"/>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83680"/>
            <a:ext cx="5486400" cy="274320"/>
          </a:xfrm>
          <a:prstGeom prst="rect">
            <a:avLst/>
          </a:prstGeom>
          <a:noFill/>
        </p:spPr>
        <p:txBody>
          <a:bodyPr wrap="square">
            <a:spAutoFit/>
          </a:bodyPr>
          <a:lstStyle/>
          <a:p>
            <a:pPr algn="l"/>
            <a:r>
              <a:rPr sz="1000" b="0" i="0">
                <a:solidFill>
                  <a:srgbClr val="FFFFFF"/>
                </a:solidFill>
              </a:rPr>
              <a:t>MTU SmartCORE HEMS</a:t>
            </a:r>
          </a:p>
        </p:txBody>
      </p:sp>
      <p:sp>
        <p:nvSpPr>
          <p:cNvPr id="9" name="TextBox 8"/>
          <p:cNvSpPr txBox="1"/>
          <p:nvPr/>
        </p:nvSpPr>
        <p:spPr>
          <a:xfrm>
            <a:off x="6400800" y="6583680"/>
            <a:ext cx="5486400" cy="274320"/>
          </a:xfrm>
          <a:prstGeom prst="rect">
            <a:avLst/>
          </a:prstGeom>
          <a:noFill/>
        </p:spPr>
        <p:txBody>
          <a:bodyPr wrap="square">
            <a:spAutoFit/>
          </a:bodyPr>
          <a:lstStyle/>
          <a:p>
            <a:pPr algn="r"/>
            <a:r>
              <a:rPr sz="1000" b="0" i="0">
                <a:solidFill>
                  <a:srgbClr val="F0AB00"/>
                </a:solidFill>
              </a:rPr>
              <a:t>Interreg NWE SmartCORE</a:t>
            </a:r>
          </a:p>
        </p:txBody>
      </p:sp>
      <p:sp>
        <p:nvSpPr>
          <p:cNvPr id="10" name="Rectangle 9"/>
          <p:cNvSpPr/>
          <p:nvPr/>
        </p:nvSpPr>
        <p:spPr>
          <a:xfrm>
            <a:off x="274320" y="1417320"/>
            <a:ext cx="5577840" cy="2286000"/>
          </a:xfrm>
          <a:prstGeom prst="rect">
            <a:avLst/>
          </a:prstGeom>
          <a:solidFill>
            <a:srgbClr val="F2F2F2"/>
          </a:solidFill>
          <a:ln w="254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4320" y="1417320"/>
            <a:ext cx="557784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435608"/>
            <a:ext cx="5394960" cy="329184"/>
          </a:xfrm>
          <a:prstGeom prst="rect">
            <a:avLst/>
          </a:prstGeom>
          <a:noFill/>
        </p:spPr>
        <p:txBody>
          <a:bodyPr wrap="square">
            <a:spAutoFit/>
          </a:bodyPr>
          <a:lstStyle/>
          <a:p>
            <a:pPr algn="l"/>
            <a:r>
              <a:rPr sz="1300" b="1" i="0">
                <a:solidFill>
                  <a:srgbClr val="FFFFFF"/>
                </a:solidFill>
              </a:rPr>
              <a:t>Fragmented Sensor Ecosystem</a:t>
            </a:r>
          </a:p>
        </p:txBody>
      </p:sp>
      <p:sp>
        <p:nvSpPr>
          <p:cNvPr id="13" name="TextBox 12"/>
          <p:cNvSpPr txBox="1"/>
          <p:nvPr/>
        </p:nvSpPr>
        <p:spPr>
          <a:xfrm>
            <a:off x="384048" y="1801368"/>
            <a:ext cx="5394960" cy="1828800"/>
          </a:xfrm>
          <a:prstGeom prst="rect">
            <a:avLst/>
          </a:prstGeom>
          <a:noFill/>
        </p:spPr>
        <p:txBody>
          <a:bodyPr wrap="square">
            <a:spAutoFit/>
          </a:bodyPr>
          <a:lstStyle/>
          <a:p>
            <a:r>
              <a:rPr sz="1300">
                <a:solidFill>
                  <a:srgbClr val="333333"/>
                </a:solidFill>
              </a:rPr>
              <a:t>Zigbee, Z-Wave, BLE — no common protocol</a:t>
            </a:r>
          </a:p>
          <a:p>
            <a:r>
              <a:rPr sz="1300">
                <a:solidFill>
                  <a:srgbClr val="333333"/>
                </a:solidFill>
              </a:rPr>
              <a:t>Utility meters rarely IoT-ready</a:t>
            </a:r>
          </a:p>
          <a:p>
            <a:r>
              <a:rPr sz="1300">
                <a:solidFill>
                  <a:srgbClr val="333333"/>
                </a:solidFill>
              </a:rPr>
              <a:t>Off-the-shelf hubs lack research-grade data access</a:t>
            </a:r>
          </a:p>
        </p:txBody>
      </p:sp>
      <p:sp>
        <p:nvSpPr>
          <p:cNvPr id="14" name="Rectangle 13"/>
          <p:cNvSpPr/>
          <p:nvPr/>
        </p:nvSpPr>
        <p:spPr>
          <a:xfrm>
            <a:off x="6126480" y="1417320"/>
            <a:ext cx="5577840" cy="2286000"/>
          </a:xfrm>
          <a:prstGeom prst="rect">
            <a:avLst/>
          </a:prstGeom>
          <a:solidFill>
            <a:srgbClr val="F2F2F2"/>
          </a:solidFill>
          <a:ln w="254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1417320"/>
            <a:ext cx="557784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36208" y="1435608"/>
            <a:ext cx="5394960" cy="329184"/>
          </a:xfrm>
          <a:prstGeom prst="rect">
            <a:avLst/>
          </a:prstGeom>
          <a:noFill/>
        </p:spPr>
        <p:txBody>
          <a:bodyPr wrap="square">
            <a:spAutoFit/>
          </a:bodyPr>
          <a:lstStyle/>
          <a:p>
            <a:pPr algn="l"/>
            <a:r>
              <a:rPr sz="1300" b="1" i="0">
                <a:solidFill>
                  <a:srgbClr val="FFFFFF"/>
                </a:solidFill>
              </a:rPr>
              <a:t>Data Sovereignty &amp; Privacy</a:t>
            </a:r>
          </a:p>
        </p:txBody>
      </p:sp>
      <p:sp>
        <p:nvSpPr>
          <p:cNvPr id="17" name="TextBox 16"/>
          <p:cNvSpPr txBox="1"/>
          <p:nvPr/>
        </p:nvSpPr>
        <p:spPr>
          <a:xfrm>
            <a:off x="6236208" y="1801368"/>
            <a:ext cx="5394960" cy="1828800"/>
          </a:xfrm>
          <a:prstGeom prst="rect">
            <a:avLst/>
          </a:prstGeom>
          <a:noFill/>
        </p:spPr>
        <p:txBody>
          <a:bodyPr wrap="square">
            <a:spAutoFit/>
          </a:bodyPr>
          <a:lstStyle/>
          <a:p>
            <a:r>
              <a:rPr sz="1300">
                <a:solidFill>
                  <a:srgbClr val="333333"/>
                </a:solidFill>
              </a:rPr>
              <a:t>Cloud-dependent products = no local control</a:t>
            </a:r>
          </a:p>
          <a:p>
            <a:r>
              <a:rPr sz="1300">
                <a:solidFill>
                  <a:srgbClr val="333333"/>
                </a:solidFill>
              </a:rPr>
              <a:t>GDPR concerns with home energy data</a:t>
            </a:r>
          </a:p>
          <a:p>
            <a:r>
              <a:rPr sz="1300">
                <a:solidFill>
                  <a:srgbClr val="333333"/>
                </a:solidFill>
              </a:rPr>
              <a:t>Partners need raw data, not vendor-filtered APIs</a:t>
            </a:r>
          </a:p>
        </p:txBody>
      </p:sp>
      <p:sp>
        <p:nvSpPr>
          <p:cNvPr id="18" name="Rectangle 17"/>
          <p:cNvSpPr/>
          <p:nvPr/>
        </p:nvSpPr>
        <p:spPr>
          <a:xfrm>
            <a:off x="274320" y="3931920"/>
            <a:ext cx="5577840" cy="2286000"/>
          </a:xfrm>
          <a:prstGeom prst="rect">
            <a:avLst/>
          </a:prstGeom>
          <a:solidFill>
            <a:srgbClr val="F2F2F2"/>
          </a:solidFill>
          <a:ln w="254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3931920"/>
            <a:ext cx="557784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4048" y="3950208"/>
            <a:ext cx="5394960" cy="329184"/>
          </a:xfrm>
          <a:prstGeom prst="rect">
            <a:avLst/>
          </a:prstGeom>
          <a:noFill/>
        </p:spPr>
        <p:txBody>
          <a:bodyPr wrap="square">
            <a:spAutoFit/>
          </a:bodyPr>
          <a:lstStyle/>
          <a:p>
            <a:pPr algn="l"/>
            <a:r>
              <a:rPr sz="1300" b="1" i="0">
                <a:solidFill>
                  <a:srgbClr val="FFFFFF"/>
                </a:solidFill>
              </a:rPr>
              <a:t>Remote Manageability at Scale</a:t>
            </a:r>
          </a:p>
        </p:txBody>
      </p:sp>
      <p:sp>
        <p:nvSpPr>
          <p:cNvPr id="21" name="TextBox 20"/>
          <p:cNvSpPr txBox="1"/>
          <p:nvPr/>
        </p:nvSpPr>
        <p:spPr>
          <a:xfrm>
            <a:off x="384048" y="4315968"/>
            <a:ext cx="5394960" cy="1828800"/>
          </a:xfrm>
          <a:prstGeom prst="rect">
            <a:avLst/>
          </a:prstGeom>
          <a:noFill/>
        </p:spPr>
        <p:txBody>
          <a:bodyPr wrap="square">
            <a:spAutoFit/>
          </a:bodyPr>
          <a:lstStyle/>
          <a:p>
            <a:r>
              <a:rPr sz="1300">
                <a:solidFill>
                  <a:srgbClr val="333333"/>
                </a:solidFill>
              </a:rPr>
              <a:t>30+ homes across Ireland — no on-site engineers</a:t>
            </a:r>
          </a:p>
          <a:p>
            <a:r>
              <a:rPr sz="1300">
                <a:solidFill>
                  <a:srgbClr val="333333"/>
                </a:solidFill>
              </a:rPr>
              <a:t>Firmware updates must be zero-touch</a:t>
            </a:r>
          </a:p>
          <a:p>
            <a:r>
              <a:rPr sz="1300">
                <a:solidFill>
                  <a:srgbClr val="333333"/>
                </a:solidFill>
              </a:rPr>
              <a:t>Self-healing critical — no single point of failure</a:t>
            </a:r>
          </a:p>
        </p:txBody>
      </p:sp>
      <p:sp>
        <p:nvSpPr>
          <p:cNvPr id="22" name="Rectangle 21"/>
          <p:cNvSpPr/>
          <p:nvPr/>
        </p:nvSpPr>
        <p:spPr>
          <a:xfrm>
            <a:off x="6126480" y="3931920"/>
            <a:ext cx="5577840" cy="2286000"/>
          </a:xfrm>
          <a:prstGeom prst="rect">
            <a:avLst/>
          </a:prstGeom>
          <a:solidFill>
            <a:srgbClr val="F2F2F2"/>
          </a:solidFill>
          <a:ln w="254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26480" y="3931920"/>
            <a:ext cx="557784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36208" y="3950208"/>
            <a:ext cx="5394960" cy="329184"/>
          </a:xfrm>
          <a:prstGeom prst="rect">
            <a:avLst/>
          </a:prstGeom>
          <a:noFill/>
        </p:spPr>
        <p:txBody>
          <a:bodyPr wrap="square">
            <a:spAutoFit/>
          </a:bodyPr>
          <a:lstStyle/>
          <a:p>
            <a:pPr algn="l"/>
            <a:r>
              <a:rPr sz="1300" b="1" i="0">
                <a:solidFill>
                  <a:srgbClr val="FFFFFF"/>
                </a:solidFill>
              </a:rPr>
              <a:t>Open &amp; Extensible Research Platform</a:t>
            </a:r>
          </a:p>
        </p:txBody>
      </p:sp>
      <p:sp>
        <p:nvSpPr>
          <p:cNvPr id="25" name="TextBox 24"/>
          <p:cNvSpPr txBox="1"/>
          <p:nvPr/>
        </p:nvSpPr>
        <p:spPr>
          <a:xfrm>
            <a:off x="6236208" y="4315968"/>
            <a:ext cx="5394960" cy="1828800"/>
          </a:xfrm>
          <a:prstGeom prst="rect">
            <a:avLst/>
          </a:prstGeom>
          <a:noFill/>
        </p:spPr>
        <p:txBody>
          <a:bodyPr wrap="square">
            <a:spAutoFit/>
          </a:bodyPr>
          <a:lstStyle/>
          <a:p>
            <a:r>
              <a:rPr sz="1300">
                <a:solidFill>
                  <a:srgbClr val="333333"/>
                </a:solidFill>
              </a:rPr>
              <a:t>Off-the-shelf systems are black boxes</a:t>
            </a:r>
          </a:p>
          <a:p>
            <a:r>
              <a:rPr sz="1300">
                <a:solidFill>
                  <a:srgbClr val="333333"/>
                </a:solidFill>
              </a:rPr>
              <a:t>We need to add sensors, change algorithms, export data</a:t>
            </a:r>
          </a:p>
          <a:p>
            <a:r>
              <a:rPr sz="1300">
                <a:solidFill>
                  <a:srgbClr val="333333"/>
                </a:solidFill>
              </a:rPr>
              <a:t>Must integrate with SmartCORE EU data platform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11430000" cy="777240"/>
          </a:xfrm>
          <a:prstGeom prst="rect">
            <a:avLst/>
          </a:prstGeom>
          <a:noFill/>
        </p:spPr>
        <p:txBody>
          <a:bodyPr wrap="square">
            <a:spAutoFit/>
          </a:bodyPr>
          <a:lstStyle/>
          <a:p>
            <a:pPr algn="l"/>
            <a:r>
              <a:rPr sz="3200" b="1" i="0">
                <a:solidFill>
                  <a:srgbClr val="FFFFFF"/>
                </a:solidFill>
              </a:rPr>
              <a:t>The HEMS Box — What Is It?</a:t>
            </a:r>
          </a:p>
        </p:txBody>
      </p:sp>
      <p:sp>
        <p:nvSpPr>
          <p:cNvPr id="5" name="TextBox 4"/>
          <p:cNvSpPr txBox="1"/>
          <p:nvPr/>
        </p:nvSpPr>
        <p:spPr>
          <a:xfrm>
            <a:off x="365760" y="804672"/>
            <a:ext cx="11430000" cy="411480"/>
          </a:xfrm>
          <a:prstGeom prst="rect">
            <a:avLst/>
          </a:prstGeom>
          <a:noFill/>
        </p:spPr>
        <p:txBody>
          <a:bodyPr wrap="square">
            <a:spAutoFit/>
          </a:bodyPr>
          <a:lstStyle/>
          <a:p>
            <a:pPr algn="l"/>
            <a:r>
              <a:rPr sz="1600" b="0" i="0">
                <a:solidFill>
                  <a:srgbClr val="F0AB00"/>
                </a:solidFill>
              </a:rPr>
              <a:t>An open, containerised edge gateway for residential energy monitoring</a:t>
            </a:r>
          </a:p>
        </p:txBody>
      </p:sp>
      <p:sp>
        <p:nvSpPr>
          <p:cNvPr id="6" name="Rectangle 5"/>
          <p:cNvSpPr/>
          <p:nvPr/>
        </p:nvSpPr>
        <p:spPr>
          <a:xfrm>
            <a:off x="0" y="1325880"/>
            <a:ext cx="12188952" cy="36576"/>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83680"/>
            <a:ext cx="5486400" cy="274320"/>
          </a:xfrm>
          <a:prstGeom prst="rect">
            <a:avLst/>
          </a:prstGeom>
          <a:noFill/>
        </p:spPr>
        <p:txBody>
          <a:bodyPr wrap="square">
            <a:spAutoFit/>
          </a:bodyPr>
          <a:lstStyle/>
          <a:p>
            <a:pPr algn="l"/>
            <a:r>
              <a:rPr sz="1000" b="0" i="0">
                <a:solidFill>
                  <a:srgbClr val="FFFFFF"/>
                </a:solidFill>
              </a:rPr>
              <a:t>MTU SmartCORE HEMS</a:t>
            </a:r>
          </a:p>
        </p:txBody>
      </p:sp>
      <p:sp>
        <p:nvSpPr>
          <p:cNvPr id="9" name="TextBox 8"/>
          <p:cNvSpPr txBox="1"/>
          <p:nvPr/>
        </p:nvSpPr>
        <p:spPr>
          <a:xfrm>
            <a:off x="6400800" y="6583680"/>
            <a:ext cx="5486400" cy="274320"/>
          </a:xfrm>
          <a:prstGeom prst="rect">
            <a:avLst/>
          </a:prstGeom>
          <a:noFill/>
        </p:spPr>
        <p:txBody>
          <a:bodyPr wrap="square">
            <a:spAutoFit/>
          </a:bodyPr>
          <a:lstStyle/>
          <a:p>
            <a:pPr algn="r"/>
            <a:r>
              <a:rPr sz="1000" b="0" i="0">
                <a:solidFill>
                  <a:srgbClr val="F0AB00"/>
                </a:solidFill>
              </a:rPr>
              <a:t>Interreg NWE SmartCORE</a:t>
            </a:r>
          </a:p>
        </p:txBody>
      </p:sp>
      <p:sp>
        <p:nvSpPr>
          <p:cNvPr id="10" name="Rectangle 9"/>
          <p:cNvSpPr/>
          <p:nvPr/>
        </p:nvSpPr>
        <p:spPr>
          <a:xfrm>
            <a:off x="274320" y="1463040"/>
            <a:ext cx="3657600" cy="5029200"/>
          </a:xfrm>
          <a:prstGeom prst="rect">
            <a:avLst/>
          </a:prstGeom>
          <a:solidFill>
            <a:srgbClr val="F2F2F2"/>
          </a:solidFill>
          <a:ln w="254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4320" y="1463040"/>
            <a:ext cx="3657600" cy="384048"/>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481328"/>
            <a:ext cx="3474720" cy="365760"/>
          </a:xfrm>
          <a:prstGeom prst="rect">
            <a:avLst/>
          </a:prstGeom>
          <a:noFill/>
        </p:spPr>
        <p:txBody>
          <a:bodyPr wrap="square">
            <a:spAutoFit/>
          </a:bodyPr>
          <a:lstStyle/>
          <a:p>
            <a:pPr algn="l"/>
            <a:r>
              <a:rPr sz="1400" b="1" i="0">
                <a:solidFill>
                  <a:srgbClr val="FFFFFF"/>
                </a:solidFill>
              </a:rPr>
              <a:t>Hardware</a:t>
            </a:r>
          </a:p>
        </p:txBody>
      </p:sp>
      <p:sp>
        <p:nvSpPr>
          <p:cNvPr id="13" name="TextBox 12"/>
          <p:cNvSpPr txBox="1"/>
          <p:nvPr/>
        </p:nvSpPr>
        <p:spPr>
          <a:xfrm>
            <a:off x="384048" y="1920240"/>
            <a:ext cx="3383280" cy="4297680"/>
          </a:xfrm>
          <a:prstGeom prst="rect">
            <a:avLst/>
          </a:prstGeom>
          <a:noFill/>
        </p:spPr>
        <p:txBody>
          <a:bodyPr wrap="square">
            <a:spAutoFit/>
          </a:bodyPr>
          <a:lstStyle/>
          <a:p>
            <a:pPr algn="l"/>
            <a:r>
              <a:rPr sz="1400">
                <a:solidFill>
                  <a:srgbClr val="333333"/>
                </a:solidFill>
              </a:rPr>
              <a:t>Raspberry Pi 5  (arm64 / aarch64)</a:t>
            </a:r>
          </a:p>
          <a:p>
            <a:pPr lvl="1" algn="l"/>
            <a:r>
              <a:rPr sz="1200">
                <a:solidFill>
                  <a:srgbClr val="333333"/>
                </a:solidFill>
              </a:rPr>
              <a:t>– 4 GB RAM, Quad-core Cortex-A76</a:t>
            </a:r>
          </a:p>
          <a:p>
            <a:pPr lvl="1" algn="l"/>
            <a:r>
              <a:rPr sz="1200">
                <a:solidFill>
                  <a:srgbClr val="333333"/>
                </a:solidFill>
              </a:rPr>
              <a:t>– Runs BalenaOS (Yocto Linux)</a:t>
            </a:r>
          </a:p>
          <a:p>
            <a:pPr algn="l"/>
            <a:endParaRPr sz="1200">
              <a:solidFill>
                <a:srgbClr val="333333"/>
              </a:solidFill>
            </a:endParaRPr>
          </a:p>
          <a:p>
            <a:pPr algn="l"/>
            <a:r>
              <a:rPr sz="1400">
                <a:solidFill>
                  <a:srgbClr val="333333"/>
                </a:solidFill>
              </a:rPr>
              <a:t>Sonoff ZBDongle-E (USB)</a:t>
            </a:r>
          </a:p>
          <a:p>
            <a:pPr lvl="1" algn="l"/>
            <a:r>
              <a:rPr sz="1200">
                <a:solidFill>
                  <a:srgbClr val="333333"/>
                </a:solidFill>
              </a:rPr>
              <a:t>– EZSP Zigbee coordinator</a:t>
            </a:r>
          </a:p>
          <a:p>
            <a:pPr lvl="1" algn="l"/>
            <a:r>
              <a:rPr sz="1200">
                <a:solidFill>
                  <a:srgbClr val="333333"/>
                </a:solidFill>
              </a:rPr>
              <a:t>– IEEE 802.15.4 @ 2.4 GHz</a:t>
            </a:r>
          </a:p>
          <a:p>
            <a:pPr algn="l"/>
            <a:endParaRPr sz="1200">
              <a:solidFill>
                <a:srgbClr val="333333"/>
              </a:solidFill>
            </a:endParaRPr>
          </a:p>
          <a:p>
            <a:pPr algn="l"/>
            <a:r>
              <a:rPr sz="1400">
                <a:solidFill>
                  <a:srgbClr val="333333"/>
                </a:solidFill>
              </a:rPr>
              <a:t>Frient SMSZB-120</a:t>
            </a:r>
          </a:p>
          <a:p>
            <a:pPr lvl="1" algn="l"/>
            <a:r>
              <a:rPr sz="1200">
                <a:solidFill>
                  <a:srgbClr val="333333"/>
                </a:solidFill>
              </a:rPr>
              <a:t>– Smart meter interface sensor</a:t>
            </a:r>
          </a:p>
          <a:p>
            <a:pPr lvl="1" algn="l"/>
            <a:r>
              <a:rPr sz="1200">
                <a:solidFill>
                  <a:srgbClr val="333333"/>
                </a:solidFill>
              </a:rPr>
              <a:t>– Blink counter → power &amp; energy</a:t>
            </a:r>
          </a:p>
          <a:p>
            <a:pPr algn="l"/>
            <a:endParaRPr sz="1200">
              <a:solidFill>
                <a:srgbClr val="333333"/>
              </a:solidFill>
            </a:endParaRPr>
          </a:p>
          <a:p>
            <a:pPr algn="l"/>
            <a:r>
              <a:rPr sz="1400">
                <a:solidFill>
                  <a:srgbClr val="333333"/>
                </a:solidFill>
              </a:rPr>
              <a:t>[ Photo placeholder: Pi 5 + USB dongle ]</a:t>
            </a:r>
          </a:p>
        </p:txBody>
      </p:sp>
      <p:sp>
        <p:nvSpPr>
          <p:cNvPr id="14" name="Rectangle 13"/>
          <p:cNvSpPr/>
          <p:nvPr/>
        </p:nvSpPr>
        <p:spPr>
          <a:xfrm>
            <a:off x="4206240" y="1463040"/>
            <a:ext cx="3657600" cy="5029200"/>
          </a:xfrm>
          <a:prstGeom prst="rect">
            <a:avLst/>
          </a:prstGeom>
          <a:solidFill>
            <a:srgbClr val="F2F2F2"/>
          </a:solidFill>
          <a:ln w="25400">
            <a:solidFill>
              <a:srgbClr val="009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06240" y="1463040"/>
            <a:ext cx="3657600" cy="384048"/>
          </a:xfrm>
          <a:prstGeom prst="rect">
            <a:avLst/>
          </a:prstGeom>
          <a:solidFill>
            <a:srgbClr val="009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15968" y="1481328"/>
            <a:ext cx="3474720" cy="365760"/>
          </a:xfrm>
          <a:prstGeom prst="rect">
            <a:avLst/>
          </a:prstGeom>
          <a:noFill/>
        </p:spPr>
        <p:txBody>
          <a:bodyPr wrap="square">
            <a:spAutoFit/>
          </a:bodyPr>
          <a:lstStyle/>
          <a:p>
            <a:pPr algn="l"/>
            <a:r>
              <a:rPr sz="1400" b="1" i="0">
                <a:solidFill>
                  <a:srgbClr val="FFFFFF"/>
                </a:solidFill>
              </a:rPr>
              <a:t>Software Stack</a:t>
            </a:r>
          </a:p>
        </p:txBody>
      </p:sp>
      <p:sp>
        <p:nvSpPr>
          <p:cNvPr id="17" name="TextBox 16"/>
          <p:cNvSpPr txBox="1"/>
          <p:nvPr/>
        </p:nvSpPr>
        <p:spPr>
          <a:xfrm>
            <a:off x="4315968" y="1920240"/>
            <a:ext cx="3383280" cy="4297680"/>
          </a:xfrm>
          <a:prstGeom prst="rect">
            <a:avLst/>
          </a:prstGeom>
          <a:noFill/>
        </p:spPr>
        <p:txBody>
          <a:bodyPr wrap="square">
            <a:spAutoFit/>
          </a:bodyPr>
          <a:lstStyle/>
          <a:p>
            <a:pPr algn="l"/>
            <a:r>
              <a:rPr sz="1400">
                <a:solidFill>
                  <a:srgbClr val="333333"/>
                </a:solidFill>
              </a:rPr>
              <a:t>BalenaOS — container OS + OTA</a:t>
            </a:r>
          </a:p>
          <a:p>
            <a:pPr algn="l"/>
            <a:r>
              <a:rPr sz="1400">
                <a:solidFill>
                  <a:srgbClr val="333333"/>
                </a:solidFill>
              </a:rPr>
              <a:t>Docker Compose — 8 services</a:t>
            </a:r>
          </a:p>
          <a:p>
            <a:pPr algn="l"/>
            <a:endParaRPr sz="1400">
              <a:solidFill>
                <a:srgbClr val="333333"/>
              </a:solidFill>
            </a:endParaRPr>
          </a:p>
          <a:p>
            <a:pPr algn="l"/>
            <a:r>
              <a:rPr sz="1400">
                <a:solidFill>
                  <a:srgbClr val="333333"/>
                </a:solidFill>
              </a:rPr>
              <a:t>Home Assistant — data hub &amp; UI</a:t>
            </a:r>
          </a:p>
          <a:p>
            <a:pPr algn="l"/>
            <a:r>
              <a:rPr sz="1400">
                <a:solidFill>
                  <a:srgbClr val="333333"/>
                </a:solidFill>
              </a:rPr>
              <a:t>InfluxDB 2 — time-series database</a:t>
            </a:r>
          </a:p>
          <a:p>
            <a:pPr algn="l"/>
            <a:r>
              <a:rPr sz="1400">
                <a:solidFill>
                  <a:srgbClr val="333333"/>
                </a:solidFill>
              </a:rPr>
              <a:t>Nginx — reverse proxy &amp; auth</a:t>
            </a:r>
          </a:p>
          <a:p>
            <a:pPr algn="l"/>
            <a:r>
              <a:rPr sz="1400">
                <a:solidFill>
                  <a:srgbClr val="333333"/>
                </a:solidFill>
              </a:rPr>
              <a:t>Mosquitto — MQTT broker</a:t>
            </a:r>
          </a:p>
          <a:p>
            <a:pPr algn="l"/>
            <a:r>
              <a:rPr sz="1400">
                <a:solidFill>
                  <a:srgbClr val="333333"/>
                </a:solidFill>
              </a:rPr>
              <a:t>hass-configurator — config UI</a:t>
            </a:r>
          </a:p>
          <a:p>
            <a:pPr algn="l"/>
            <a:r>
              <a:rPr sz="1400">
                <a:solidFill>
                  <a:srgbClr val="333333"/>
                </a:solidFill>
              </a:rPr>
              <a:t>system-manager — watchdog</a:t>
            </a:r>
          </a:p>
          <a:p>
            <a:pPr algn="l"/>
            <a:r>
              <a:rPr sz="1400">
                <a:solidFill>
                  <a:srgbClr val="333333"/>
                </a:solidFill>
              </a:rPr>
              <a:t>led-status — GPIO health LEDs</a:t>
            </a:r>
          </a:p>
          <a:p>
            <a:pPr algn="l"/>
            <a:endParaRPr sz="1400">
              <a:solidFill>
                <a:srgbClr val="333333"/>
              </a:solidFill>
            </a:endParaRPr>
          </a:p>
          <a:p>
            <a:pPr algn="l"/>
            <a:r>
              <a:rPr sz="1400">
                <a:solidFill>
                  <a:srgbClr val="333333"/>
                </a:solidFill>
              </a:rPr>
              <a:t>Bridge network 172.18.4.0/24</a:t>
            </a:r>
          </a:p>
          <a:p>
            <a:pPr algn="l"/>
            <a:r>
              <a:rPr sz="1400">
                <a:solidFill>
                  <a:srgbClr val="333333"/>
                </a:solidFill>
              </a:rPr>
              <a:t>Isolated, static IPs per service</a:t>
            </a:r>
          </a:p>
        </p:txBody>
      </p:sp>
      <p:sp>
        <p:nvSpPr>
          <p:cNvPr id="18" name="Rectangle 17"/>
          <p:cNvSpPr/>
          <p:nvPr/>
        </p:nvSpPr>
        <p:spPr>
          <a:xfrm>
            <a:off x="8138160" y="1463040"/>
            <a:ext cx="3749039" cy="5029200"/>
          </a:xfrm>
          <a:prstGeom prst="rect">
            <a:avLst/>
          </a:prstGeom>
          <a:solidFill>
            <a:srgbClr val="F2F2F2"/>
          </a:solidFill>
          <a:ln w="25400">
            <a:solidFill>
              <a:srgbClr val="F0A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38160" y="1463040"/>
            <a:ext cx="3749039" cy="384048"/>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47888" y="1481328"/>
            <a:ext cx="3566160" cy="365760"/>
          </a:xfrm>
          <a:prstGeom prst="rect">
            <a:avLst/>
          </a:prstGeom>
          <a:noFill/>
        </p:spPr>
        <p:txBody>
          <a:bodyPr wrap="square">
            <a:spAutoFit/>
          </a:bodyPr>
          <a:lstStyle/>
          <a:p>
            <a:pPr algn="l"/>
            <a:r>
              <a:rPr sz="1400" b="1" i="0">
                <a:solidFill>
                  <a:srgbClr val="333333"/>
                </a:solidFill>
              </a:rPr>
              <a:t>Design Principles</a:t>
            </a:r>
          </a:p>
        </p:txBody>
      </p:sp>
      <p:sp>
        <p:nvSpPr>
          <p:cNvPr id="21" name="TextBox 20"/>
          <p:cNvSpPr txBox="1"/>
          <p:nvPr/>
        </p:nvSpPr>
        <p:spPr>
          <a:xfrm>
            <a:off x="8247888" y="1920240"/>
            <a:ext cx="3474720" cy="4297680"/>
          </a:xfrm>
          <a:prstGeom prst="rect">
            <a:avLst/>
          </a:prstGeom>
          <a:noFill/>
        </p:spPr>
        <p:txBody>
          <a:bodyPr wrap="square">
            <a:spAutoFit/>
          </a:bodyPr>
          <a:lstStyle/>
          <a:p>
            <a:pPr algn="l"/>
            <a:r>
              <a:rPr sz="1400">
                <a:solidFill>
                  <a:srgbClr val="333333"/>
                </a:solidFill>
              </a:rPr>
              <a:t>Open-source throughout</a:t>
            </a:r>
          </a:p>
          <a:p>
            <a:pPr algn="l"/>
            <a:r>
              <a:rPr sz="1400">
                <a:solidFill>
                  <a:srgbClr val="333333"/>
                </a:solidFill>
              </a:rPr>
              <a:t>No cloud dependency</a:t>
            </a:r>
          </a:p>
          <a:p>
            <a:pPr algn="l"/>
            <a:r>
              <a:rPr sz="1400">
                <a:solidFill>
                  <a:srgbClr val="333333"/>
                </a:solidFill>
              </a:rPr>
              <a:t>  (works fully offline)</a:t>
            </a:r>
          </a:p>
          <a:p>
            <a:pPr algn="l"/>
            <a:endParaRPr sz="1400">
              <a:solidFill>
                <a:srgbClr val="333333"/>
              </a:solidFill>
            </a:endParaRPr>
          </a:p>
          <a:p>
            <a:pPr algn="l"/>
            <a:r>
              <a:rPr sz="1400">
                <a:solidFill>
                  <a:srgbClr val="333333"/>
                </a:solidFill>
              </a:rPr>
              <a:t>Self-healing &amp; self-updating</a:t>
            </a:r>
          </a:p>
          <a:p>
            <a:pPr algn="l"/>
            <a:r>
              <a:rPr sz="1400">
                <a:solidFill>
                  <a:srgbClr val="333333"/>
                </a:solidFill>
              </a:rPr>
              <a:t>  via BalenaOS Supervisor</a:t>
            </a:r>
          </a:p>
          <a:p>
            <a:pPr algn="l"/>
            <a:endParaRPr sz="1400">
              <a:solidFill>
                <a:srgbClr val="333333"/>
              </a:solidFill>
            </a:endParaRPr>
          </a:p>
          <a:p>
            <a:pPr algn="l"/>
            <a:r>
              <a:rPr sz="1400">
                <a:solidFill>
                  <a:srgbClr val="333333"/>
                </a:solidFill>
              </a:rPr>
              <a:t>Extensible — add sensors,</a:t>
            </a:r>
          </a:p>
          <a:p>
            <a:pPr algn="l"/>
            <a:r>
              <a:rPr sz="1400">
                <a:solidFill>
                  <a:srgbClr val="333333"/>
                </a:solidFill>
              </a:rPr>
              <a:t>  services, or integrations</a:t>
            </a:r>
          </a:p>
          <a:p>
            <a:pPr algn="l"/>
            <a:r>
              <a:rPr sz="1400">
                <a:solidFill>
                  <a:srgbClr val="333333"/>
                </a:solidFill>
              </a:rPr>
              <a:t>  without hardware changes</a:t>
            </a:r>
          </a:p>
          <a:p>
            <a:pPr algn="l"/>
            <a:endParaRPr sz="1400">
              <a:solidFill>
                <a:srgbClr val="333333"/>
              </a:solidFill>
            </a:endParaRPr>
          </a:p>
          <a:p>
            <a:pPr algn="l"/>
            <a:r>
              <a:rPr sz="1400">
                <a:solidFill>
                  <a:srgbClr val="333333"/>
                </a:solidFill>
              </a:rPr>
              <a:t>Research-grade data access</a:t>
            </a:r>
          </a:p>
          <a:p>
            <a:pPr algn="l"/>
            <a:r>
              <a:rPr sz="1400">
                <a:solidFill>
                  <a:srgbClr val="333333"/>
                </a:solidFill>
              </a:rPr>
              <a:t>  — full InfluxDB query API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11430000" cy="777240"/>
          </a:xfrm>
          <a:prstGeom prst="rect">
            <a:avLst/>
          </a:prstGeom>
          <a:noFill/>
        </p:spPr>
        <p:txBody>
          <a:bodyPr wrap="square">
            <a:spAutoFit/>
          </a:bodyPr>
          <a:lstStyle/>
          <a:p>
            <a:pPr algn="l"/>
            <a:r>
              <a:rPr sz="3200" b="1" i="0">
                <a:solidFill>
                  <a:srgbClr val="FFFFFF"/>
                </a:solidFill>
              </a:rPr>
              <a:t>System Architecture</a:t>
            </a:r>
          </a:p>
        </p:txBody>
      </p:sp>
      <p:sp>
        <p:nvSpPr>
          <p:cNvPr id="5" name="TextBox 4"/>
          <p:cNvSpPr txBox="1"/>
          <p:nvPr/>
        </p:nvSpPr>
        <p:spPr>
          <a:xfrm>
            <a:off x="365760" y="804672"/>
            <a:ext cx="11430000" cy="411480"/>
          </a:xfrm>
          <a:prstGeom prst="rect">
            <a:avLst/>
          </a:prstGeom>
          <a:noFill/>
        </p:spPr>
        <p:txBody>
          <a:bodyPr wrap="square">
            <a:spAutoFit/>
          </a:bodyPr>
          <a:lstStyle/>
          <a:p>
            <a:pPr algn="l"/>
            <a:r>
              <a:rPr sz="1600" b="0" i="0">
                <a:solidFill>
                  <a:srgbClr val="F0AB00"/>
                </a:solidFill>
              </a:rPr>
              <a:t>8 containerised services on a private Docker bridge network</a:t>
            </a:r>
          </a:p>
        </p:txBody>
      </p:sp>
      <p:sp>
        <p:nvSpPr>
          <p:cNvPr id="6" name="Rectangle 5"/>
          <p:cNvSpPr/>
          <p:nvPr/>
        </p:nvSpPr>
        <p:spPr>
          <a:xfrm>
            <a:off x="0" y="1325880"/>
            <a:ext cx="12188952" cy="36576"/>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83680"/>
            <a:ext cx="5486400" cy="274320"/>
          </a:xfrm>
          <a:prstGeom prst="rect">
            <a:avLst/>
          </a:prstGeom>
          <a:noFill/>
        </p:spPr>
        <p:txBody>
          <a:bodyPr wrap="square">
            <a:spAutoFit/>
          </a:bodyPr>
          <a:lstStyle/>
          <a:p>
            <a:pPr algn="l"/>
            <a:r>
              <a:rPr sz="1000" b="0" i="0">
                <a:solidFill>
                  <a:srgbClr val="FFFFFF"/>
                </a:solidFill>
              </a:rPr>
              <a:t>MTU SmartCORE HEMS</a:t>
            </a:r>
          </a:p>
        </p:txBody>
      </p:sp>
      <p:sp>
        <p:nvSpPr>
          <p:cNvPr id="9" name="TextBox 8"/>
          <p:cNvSpPr txBox="1"/>
          <p:nvPr/>
        </p:nvSpPr>
        <p:spPr>
          <a:xfrm>
            <a:off x="6400800" y="6583680"/>
            <a:ext cx="5486400" cy="274320"/>
          </a:xfrm>
          <a:prstGeom prst="rect">
            <a:avLst/>
          </a:prstGeom>
          <a:noFill/>
        </p:spPr>
        <p:txBody>
          <a:bodyPr wrap="square">
            <a:spAutoFit/>
          </a:bodyPr>
          <a:lstStyle/>
          <a:p>
            <a:pPr algn="r"/>
            <a:r>
              <a:rPr sz="1000" b="0" i="0">
                <a:solidFill>
                  <a:srgbClr val="F0AB00"/>
                </a:solidFill>
              </a:rPr>
              <a:t>Interreg NWE SmartCORE</a:t>
            </a:r>
          </a:p>
        </p:txBody>
      </p:sp>
      <p:sp>
        <p:nvSpPr>
          <p:cNvPr id="10" name="TextBox 9"/>
          <p:cNvSpPr txBox="1"/>
          <p:nvPr/>
        </p:nvSpPr>
        <p:spPr>
          <a:xfrm>
            <a:off x="182880" y="1417320"/>
            <a:ext cx="11795760" cy="320040"/>
          </a:xfrm>
          <a:prstGeom prst="rect">
            <a:avLst/>
          </a:prstGeom>
          <a:noFill/>
        </p:spPr>
        <p:txBody>
          <a:bodyPr wrap="square">
            <a:spAutoFit/>
          </a:bodyPr>
          <a:lstStyle/>
          <a:p>
            <a:pPr algn="ctr"/>
            <a:r>
              <a:rPr sz="1300" b="1" i="0">
                <a:solidFill>
                  <a:srgbClr val="003087"/>
                </a:solidFill>
              </a:rPr>
              <a:t>Raspberry Pi 5  (BalenaOS Host)</a:t>
            </a:r>
          </a:p>
        </p:txBody>
      </p:sp>
      <p:sp>
        <p:nvSpPr>
          <p:cNvPr id="11" name="Rectangle 10"/>
          <p:cNvSpPr/>
          <p:nvPr/>
        </p:nvSpPr>
        <p:spPr>
          <a:xfrm>
            <a:off x="182880" y="1371600"/>
            <a:ext cx="11795760" cy="5029200"/>
          </a:xfrm>
          <a:prstGeom prst="rect">
            <a:avLst/>
          </a:prstGeom>
          <a:solidFill>
            <a:srgbClr val="E8F0FF"/>
          </a:solidFill>
          <a:ln w="254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737360"/>
            <a:ext cx="7315200" cy="274320"/>
          </a:xfrm>
          <a:prstGeom prst="rect">
            <a:avLst/>
          </a:prstGeom>
          <a:noFill/>
        </p:spPr>
        <p:txBody>
          <a:bodyPr wrap="square">
            <a:spAutoFit/>
          </a:bodyPr>
          <a:lstStyle/>
          <a:p>
            <a:pPr algn="l"/>
            <a:r>
              <a:rPr sz="1100" b="0" i="1">
                <a:solidFill>
                  <a:srgbClr val="003087"/>
                </a:solidFill>
              </a:rPr>
              <a:t>Docker Bridge  172.18.4.0/24</a:t>
            </a:r>
          </a:p>
        </p:txBody>
      </p:sp>
      <p:sp>
        <p:nvSpPr>
          <p:cNvPr id="13" name="Rectangle 12"/>
          <p:cNvSpPr/>
          <p:nvPr/>
        </p:nvSpPr>
        <p:spPr>
          <a:xfrm>
            <a:off x="365760" y="2057400"/>
            <a:ext cx="2194560" cy="11887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2103120"/>
            <a:ext cx="2057400" cy="640080"/>
          </a:xfrm>
          <a:prstGeom prst="rect">
            <a:avLst/>
          </a:prstGeom>
          <a:noFill/>
        </p:spPr>
        <p:txBody>
          <a:bodyPr wrap="square">
            <a:spAutoFit/>
          </a:bodyPr>
          <a:lstStyle/>
          <a:p>
            <a:pPr algn="ctr"/>
            <a:r>
              <a:rPr sz="1400" b="1" i="0">
                <a:solidFill>
                  <a:srgbClr val="FFFFFF"/>
                </a:solidFill>
              </a:rPr>
              <a:t>Home
Assistant</a:t>
            </a:r>
          </a:p>
        </p:txBody>
      </p:sp>
      <p:sp>
        <p:nvSpPr>
          <p:cNvPr id="15" name="TextBox 14"/>
          <p:cNvSpPr txBox="1"/>
          <p:nvPr/>
        </p:nvSpPr>
        <p:spPr>
          <a:xfrm>
            <a:off x="438912" y="2715768"/>
            <a:ext cx="2057400" cy="502920"/>
          </a:xfrm>
          <a:prstGeom prst="rect">
            <a:avLst/>
          </a:prstGeom>
          <a:noFill/>
        </p:spPr>
        <p:txBody>
          <a:bodyPr wrap="square">
            <a:spAutoFit/>
          </a:bodyPr>
          <a:lstStyle/>
          <a:p>
            <a:pPr algn="ctr"/>
            <a:r>
              <a:rPr sz="1100" b="0" i="0">
                <a:solidFill>
                  <a:srgbClr val="DDEEFF"/>
                </a:solidFill>
              </a:rPr>
              <a:t>172.18.4.2
:8123</a:t>
            </a:r>
          </a:p>
        </p:txBody>
      </p:sp>
      <p:sp>
        <p:nvSpPr>
          <p:cNvPr id="16" name="Rectangle 15"/>
          <p:cNvSpPr/>
          <p:nvPr/>
        </p:nvSpPr>
        <p:spPr>
          <a:xfrm>
            <a:off x="2724912" y="2057400"/>
            <a:ext cx="2194560" cy="1188720"/>
          </a:xfrm>
          <a:prstGeom prst="rect">
            <a:avLst/>
          </a:prstGeom>
          <a:solidFill>
            <a:srgbClr val="009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98064" y="2103120"/>
            <a:ext cx="2057400" cy="640080"/>
          </a:xfrm>
          <a:prstGeom prst="rect">
            <a:avLst/>
          </a:prstGeom>
          <a:noFill/>
        </p:spPr>
        <p:txBody>
          <a:bodyPr wrap="square">
            <a:spAutoFit/>
          </a:bodyPr>
          <a:lstStyle/>
          <a:p>
            <a:pPr algn="ctr"/>
            <a:r>
              <a:rPr sz="1400" b="1" i="0">
                <a:solidFill>
                  <a:srgbClr val="FFFFFF"/>
                </a:solidFill>
              </a:rPr>
              <a:t>InfluxDB 2</a:t>
            </a:r>
          </a:p>
        </p:txBody>
      </p:sp>
      <p:sp>
        <p:nvSpPr>
          <p:cNvPr id="18" name="TextBox 17"/>
          <p:cNvSpPr txBox="1"/>
          <p:nvPr/>
        </p:nvSpPr>
        <p:spPr>
          <a:xfrm>
            <a:off x="2798064" y="2715768"/>
            <a:ext cx="2057400" cy="502920"/>
          </a:xfrm>
          <a:prstGeom prst="rect">
            <a:avLst/>
          </a:prstGeom>
          <a:noFill/>
        </p:spPr>
        <p:txBody>
          <a:bodyPr wrap="square">
            <a:spAutoFit/>
          </a:bodyPr>
          <a:lstStyle/>
          <a:p>
            <a:pPr algn="ctr"/>
            <a:r>
              <a:rPr sz="1100" b="0" i="0">
                <a:solidFill>
                  <a:srgbClr val="DDEEFF"/>
                </a:solidFill>
              </a:rPr>
              <a:t>172.18.4.3
:8086</a:t>
            </a:r>
          </a:p>
        </p:txBody>
      </p:sp>
      <p:sp>
        <p:nvSpPr>
          <p:cNvPr id="19" name="Rectangle 18"/>
          <p:cNvSpPr/>
          <p:nvPr/>
        </p:nvSpPr>
        <p:spPr>
          <a:xfrm>
            <a:off x="5084064" y="2057400"/>
            <a:ext cx="2194560" cy="11887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57216" y="2103120"/>
            <a:ext cx="2057400" cy="640080"/>
          </a:xfrm>
          <a:prstGeom prst="rect">
            <a:avLst/>
          </a:prstGeom>
          <a:noFill/>
        </p:spPr>
        <p:txBody>
          <a:bodyPr wrap="square">
            <a:spAutoFit/>
          </a:bodyPr>
          <a:lstStyle/>
          <a:p>
            <a:pPr algn="ctr"/>
            <a:r>
              <a:rPr sz="1400" b="1" i="0">
                <a:solidFill>
                  <a:srgbClr val="FFFFFF"/>
                </a:solidFill>
              </a:rPr>
              <a:t>Nginx
Proxy</a:t>
            </a:r>
          </a:p>
        </p:txBody>
      </p:sp>
      <p:sp>
        <p:nvSpPr>
          <p:cNvPr id="21" name="TextBox 20"/>
          <p:cNvSpPr txBox="1"/>
          <p:nvPr/>
        </p:nvSpPr>
        <p:spPr>
          <a:xfrm>
            <a:off x="5157216" y="2715768"/>
            <a:ext cx="2057400" cy="502920"/>
          </a:xfrm>
          <a:prstGeom prst="rect">
            <a:avLst/>
          </a:prstGeom>
          <a:noFill/>
        </p:spPr>
        <p:txBody>
          <a:bodyPr wrap="square">
            <a:spAutoFit/>
          </a:bodyPr>
          <a:lstStyle/>
          <a:p>
            <a:pPr algn="ctr"/>
            <a:r>
              <a:rPr sz="1100" b="0" i="0">
                <a:solidFill>
                  <a:srgbClr val="DDEEFF"/>
                </a:solidFill>
              </a:rPr>
              <a:t>172.18.4.4
:80</a:t>
            </a:r>
          </a:p>
        </p:txBody>
      </p:sp>
      <p:sp>
        <p:nvSpPr>
          <p:cNvPr id="22" name="Rectangle 21"/>
          <p:cNvSpPr/>
          <p:nvPr/>
        </p:nvSpPr>
        <p:spPr>
          <a:xfrm>
            <a:off x="7443216" y="2057400"/>
            <a:ext cx="2194560" cy="1188720"/>
          </a:xfrm>
          <a:prstGeom prst="rect">
            <a:avLst/>
          </a:prstGeom>
          <a:solidFill>
            <a:srgbClr val="8B0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16368" y="2103120"/>
            <a:ext cx="2057400" cy="640080"/>
          </a:xfrm>
          <a:prstGeom prst="rect">
            <a:avLst/>
          </a:prstGeom>
          <a:noFill/>
        </p:spPr>
        <p:txBody>
          <a:bodyPr wrap="square">
            <a:spAutoFit/>
          </a:bodyPr>
          <a:lstStyle/>
          <a:p>
            <a:pPr algn="ctr"/>
            <a:r>
              <a:rPr sz="1400" b="1" i="0">
                <a:solidFill>
                  <a:srgbClr val="FFFFFF"/>
                </a:solidFill>
              </a:rPr>
              <a:t>Mosquitto
MQTT</a:t>
            </a:r>
          </a:p>
        </p:txBody>
      </p:sp>
      <p:sp>
        <p:nvSpPr>
          <p:cNvPr id="24" name="TextBox 23"/>
          <p:cNvSpPr txBox="1"/>
          <p:nvPr/>
        </p:nvSpPr>
        <p:spPr>
          <a:xfrm>
            <a:off x="7516368" y="2715768"/>
            <a:ext cx="2057400" cy="502920"/>
          </a:xfrm>
          <a:prstGeom prst="rect">
            <a:avLst/>
          </a:prstGeom>
          <a:noFill/>
        </p:spPr>
        <p:txBody>
          <a:bodyPr wrap="square">
            <a:spAutoFit/>
          </a:bodyPr>
          <a:lstStyle/>
          <a:p>
            <a:pPr algn="ctr"/>
            <a:r>
              <a:rPr sz="1100" b="0" i="0">
                <a:solidFill>
                  <a:srgbClr val="DDEEFF"/>
                </a:solidFill>
              </a:rPr>
              <a:t>172.18.4.7
:1883</a:t>
            </a:r>
          </a:p>
        </p:txBody>
      </p:sp>
      <p:sp>
        <p:nvSpPr>
          <p:cNvPr id="25" name="Rectangle 24"/>
          <p:cNvSpPr/>
          <p:nvPr/>
        </p:nvSpPr>
        <p:spPr>
          <a:xfrm>
            <a:off x="365760" y="3429000"/>
            <a:ext cx="2194560" cy="1188720"/>
          </a:xfrm>
          <a:prstGeom prst="rect">
            <a:avLst/>
          </a:prstGeom>
          <a:solidFill>
            <a:srgbClr val="C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8912" y="3474720"/>
            <a:ext cx="2057400" cy="640080"/>
          </a:xfrm>
          <a:prstGeom prst="rect">
            <a:avLst/>
          </a:prstGeom>
          <a:noFill/>
        </p:spPr>
        <p:txBody>
          <a:bodyPr wrap="square">
            <a:spAutoFit/>
          </a:bodyPr>
          <a:lstStyle/>
          <a:p>
            <a:pPr algn="ctr"/>
            <a:r>
              <a:rPr sz="1400" b="1" i="0">
                <a:solidFill>
                  <a:srgbClr val="FFFFFF"/>
                </a:solidFill>
              </a:rPr>
              <a:t>hass-
configurator</a:t>
            </a:r>
          </a:p>
        </p:txBody>
      </p:sp>
      <p:sp>
        <p:nvSpPr>
          <p:cNvPr id="27" name="TextBox 26"/>
          <p:cNvSpPr txBox="1"/>
          <p:nvPr/>
        </p:nvSpPr>
        <p:spPr>
          <a:xfrm>
            <a:off x="438912" y="4087368"/>
            <a:ext cx="2057400" cy="502920"/>
          </a:xfrm>
          <a:prstGeom prst="rect">
            <a:avLst/>
          </a:prstGeom>
          <a:noFill/>
        </p:spPr>
        <p:txBody>
          <a:bodyPr wrap="square">
            <a:spAutoFit/>
          </a:bodyPr>
          <a:lstStyle/>
          <a:p>
            <a:pPr algn="ctr"/>
            <a:r>
              <a:rPr sz="1100" b="0" i="0">
                <a:solidFill>
                  <a:srgbClr val="DDEEFF"/>
                </a:solidFill>
              </a:rPr>
              <a:t>172.18.4.6
:3218</a:t>
            </a:r>
          </a:p>
        </p:txBody>
      </p:sp>
      <p:sp>
        <p:nvSpPr>
          <p:cNvPr id="28" name="Rectangle 27"/>
          <p:cNvSpPr/>
          <p:nvPr/>
        </p:nvSpPr>
        <p:spPr>
          <a:xfrm>
            <a:off x="2724912" y="3429000"/>
            <a:ext cx="2194560" cy="1188720"/>
          </a:xfrm>
          <a:prstGeom prst="rect">
            <a:avLst/>
          </a:prstGeom>
          <a:solidFill>
            <a:srgbClr val="55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98064" y="3474720"/>
            <a:ext cx="2057400" cy="640080"/>
          </a:xfrm>
          <a:prstGeom prst="rect">
            <a:avLst/>
          </a:prstGeom>
          <a:noFill/>
        </p:spPr>
        <p:txBody>
          <a:bodyPr wrap="square">
            <a:spAutoFit/>
          </a:bodyPr>
          <a:lstStyle/>
          <a:p>
            <a:pPr algn="ctr"/>
            <a:r>
              <a:rPr sz="1400" b="1" i="0">
                <a:solidFill>
                  <a:srgbClr val="FFFFFF"/>
                </a:solidFill>
              </a:rPr>
              <a:t>led-status</a:t>
            </a:r>
          </a:p>
        </p:txBody>
      </p:sp>
      <p:sp>
        <p:nvSpPr>
          <p:cNvPr id="30" name="TextBox 29"/>
          <p:cNvSpPr txBox="1"/>
          <p:nvPr/>
        </p:nvSpPr>
        <p:spPr>
          <a:xfrm>
            <a:off x="2798064" y="4087368"/>
            <a:ext cx="2057400" cy="502920"/>
          </a:xfrm>
          <a:prstGeom prst="rect">
            <a:avLst/>
          </a:prstGeom>
          <a:noFill/>
        </p:spPr>
        <p:txBody>
          <a:bodyPr wrap="square">
            <a:spAutoFit/>
          </a:bodyPr>
          <a:lstStyle/>
          <a:p>
            <a:pPr algn="ctr"/>
            <a:r>
              <a:rPr sz="1100" b="0" i="0">
                <a:solidFill>
                  <a:srgbClr val="DDEEFF"/>
                </a:solidFill>
              </a:rPr>
              <a:t>172.18.4.9
GPIO 17/27/22</a:t>
            </a:r>
          </a:p>
        </p:txBody>
      </p:sp>
      <p:sp>
        <p:nvSpPr>
          <p:cNvPr id="31" name="Rectangle 30"/>
          <p:cNvSpPr/>
          <p:nvPr/>
        </p:nvSpPr>
        <p:spPr>
          <a:xfrm>
            <a:off x="5084064" y="3429000"/>
            <a:ext cx="2194560" cy="1188720"/>
          </a:xfrm>
          <a:prstGeom prst="rect">
            <a:avLst/>
          </a:prstGeom>
          <a:solidFill>
            <a:srgbClr val="444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157216" y="3474720"/>
            <a:ext cx="2057400" cy="640080"/>
          </a:xfrm>
          <a:prstGeom prst="rect">
            <a:avLst/>
          </a:prstGeom>
          <a:noFill/>
        </p:spPr>
        <p:txBody>
          <a:bodyPr wrap="square">
            <a:spAutoFit/>
          </a:bodyPr>
          <a:lstStyle/>
          <a:p>
            <a:pPr algn="ctr"/>
            <a:r>
              <a:rPr sz="1400" b="1" i="0">
                <a:solidFill>
                  <a:srgbClr val="FFFFFF"/>
                </a:solidFill>
              </a:rPr>
              <a:t>system-
manager</a:t>
            </a:r>
          </a:p>
        </p:txBody>
      </p:sp>
      <p:sp>
        <p:nvSpPr>
          <p:cNvPr id="33" name="TextBox 32"/>
          <p:cNvSpPr txBox="1"/>
          <p:nvPr/>
        </p:nvSpPr>
        <p:spPr>
          <a:xfrm>
            <a:off x="5157216" y="4087368"/>
            <a:ext cx="2057400" cy="502920"/>
          </a:xfrm>
          <a:prstGeom prst="rect">
            <a:avLst/>
          </a:prstGeom>
          <a:noFill/>
        </p:spPr>
        <p:txBody>
          <a:bodyPr wrap="square">
            <a:spAutoFit/>
          </a:bodyPr>
          <a:lstStyle/>
          <a:p>
            <a:pPr algn="ctr"/>
            <a:r>
              <a:rPr sz="1100" b="0" i="0">
                <a:solidFill>
                  <a:srgbClr val="DDEEFF"/>
                </a:solidFill>
              </a:rPr>
              <a:t>host network
Supervisor API</a:t>
            </a:r>
          </a:p>
        </p:txBody>
      </p:sp>
      <p:sp>
        <p:nvSpPr>
          <p:cNvPr id="34" name="Rectangle 33"/>
          <p:cNvSpPr/>
          <p:nvPr/>
        </p:nvSpPr>
        <p:spPr>
          <a:xfrm>
            <a:off x="7443216" y="3429000"/>
            <a:ext cx="2194560" cy="1188720"/>
          </a:xfrm>
          <a:prstGeom prst="rect">
            <a:avLst/>
          </a:prstGeom>
          <a:solidFill>
            <a:srgbClr val="44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516368" y="3474720"/>
            <a:ext cx="2057400" cy="640080"/>
          </a:xfrm>
          <a:prstGeom prst="rect">
            <a:avLst/>
          </a:prstGeom>
          <a:noFill/>
        </p:spPr>
        <p:txBody>
          <a:bodyPr wrap="square">
            <a:spAutoFit/>
          </a:bodyPr>
          <a:lstStyle/>
          <a:p>
            <a:pPr algn="ctr"/>
            <a:r>
              <a:rPr sz="1400" b="1" i="0">
                <a:solidFill>
                  <a:srgbClr val="FFFFFF"/>
                </a:solidFill>
              </a:rPr>
              <a:t>wifi-
connect</a:t>
            </a:r>
          </a:p>
        </p:txBody>
      </p:sp>
      <p:sp>
        <p:nvSpPr>
          <p:cNvPr id="36" name="TextBox 35"/>
          <p:cNvSpPr txBox="1"/>
          <p:nvPr/>
        </p:nvSpPr>
        <p:spPr>
          <a:xfrm>
            <a:off x="7516368" y="4087368"/>
            <a:ext cx="2057400" cy="502920"/>
          </a:xfrm>
          <a:prstGeom prst="rect">
            <a:avLst/>
          </a:prstGeom>
          <a:noFill/>
        </p:spPr>
        <p:txBody>
          <a:bodyPr wrap="square">
            <a:spAutoFit/>
          </a:bodyPr>
          <a:lstStyle/>
          <a:p>
            <a:pPr algn="ctr"/>
            <a:r>
              <a:rPr sz="1100" b="0" i="0">
                <a:solidFill>
                  <a:srgbClr val="DDEEFF"/>
                </a:solidFill>
              </a:rPr>
              <a:t>host network
Captive portal</a:t>
            </a:r>
          </a:p>
        </p:txBody>
      </p:sp>
      <p:sp>
        <p:nvSpPr>
          <p:cNvPr id="37" name="Rectangle 36"/>
          <p:cNvSpPr/>
          <p:nvPr/>
        </p:nvSpPr>
        <p:spPr>
          <a:xfrm>
            <a:off x="9601200" y="2057400"/>
            <a:ext cx="2286000" cy="822960"/>
          </a:xfrm>
          <a:prstGeom prst="rect">
            <a:avLst/>
          </a:prstGeom>
          <a:solidFill>
            <a:srgbClr val="AA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01200" y="2057400"/>
            <a:ext cx="2286000" cy="822960"/>
          </a:xfrm>
          <a:prstGeom prst="rect">
            <a:avLst/>
          </a:prstGeom>
          <a:noFill/>
        </p:spPr>
        <p:txBody>
          <a:bodyPr wrap="square">
            <a:spAutoFit/>
          </a:bodyPr>
          <a:lstStyle/>
          <a:p>
            <a:pPr algn="ctr"/>
            <a:r>
              <a:rPr sz="1300" b="1" i="0">
                <a:solidFill>
                  <a:srgbClr val="FFFFFF"/>
                </a:solidFill>
              </a:rPr>
              <a:t>BalenaOS
Supervisor</a:t>
            </a:r>
          </a:p>
        </p:txBody>
      </p:sp>
      <p:sp>
        <p:nvSpPr>
          <p:cNvPr id="39" name="Rectangle 38"/>
          <p:cNvSpPr/>
          <p:nvPr/>
        </p:nvSpPr>
        <p:spPr>
          <a:xfrm>
            <a:off x="9601200" y="3063240"/>
            <a:ext cx="2286000" cy="82296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601200" y="3063240"/>
            <a:ext cx="2286000" cy="822960"/>
          </a:xfrm>
          <a:prstGeom prst="rect">
            <a:avLst/>
          </a:prstGeom>
          <a:noFill/>
        </p:spPr>
        <p:txBody>
          <a:bodyPr wrap="square">
            <a:spAutoFit/>
          </a:bodyPr>
          <a:lstStyle/>
          <a:p>
            <a:pPr algn="ctr"/>
            <a:r>
              <a:rPr sz="1200" b="1" i="0">
                <a:solidFill>
                  <a:srgbClr val="FFFFFF"/>
                </a:solidFill>
              </a:rPr>
              <a:t>Balena Cloud
(OTA updates)</a:t>
            </a:r>
          </a:p>
        </p:txBody>
      </p:sp>
      <p:sp>
        <p:nvSpPr>
          <p:cNvPr id="41" name="Rectangle 40"/>
          <p:cNvSpPr/>
          <p:nvPr/>
        </p:nvSpPr>
        <p:spPr>
          <a:xfrm>
            <a:off x="365760" y="4800600"/>
            <a:ext cx="2926080" cy="594360"/>
          </a:xfrm>
          <a:prstGeom prst="rect">
            <a:avLst/>
          </a:prstGeom>
          <a:solidFill>
            <a:srgbClr val="33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5760" y="4800600"/>
            <a:ext cx="2926080" cy="594360"/>
          </a:xfrm>
          <a:prstGeom prst="rect">
            <a:avLst/>
          </a:prstGeom>
          <a:noFill/>
        </p:spPr>
        <p:txBody>
          <a:bodyPr wrap="square">
            <a:spAutoFit/>
          </a:bodyPr>
          <a:lstStyle/>
          <a:p>
            <a:pPr algn="ctr"/>
            <a:r>
              <a:rPr sz="1200" b="1" i="0">
                <a:solidFill>
                  <a:srgbClr val="FFFFFF"/>
                </a:solidFill>
              </a:rPr>
              <a:t>Sonoff ZBDongle-E (USB / EZSP Zigbee coordinator)</a:t>
            </a:r>
          </a:p>
        </p:txBody>
      </p:sp>
      <p:sp>
        <p:nvSpPr>
          <p:cNvPr id="43" name="Rectangle 42"/>
          <p:cNvSpPr/>
          <p:nvPr/>
        </p:nvSpPr>
        <p:spPr>
          <a:xfrm>
            <a:off x="3657600" y="4800600"/>
            <a:ext cx="2743200" cy="594360"/>
          </a:xfrm>
          <a:prstGeom prst="rect">
            <a:avLst/>
          </a:prstGeom>
          <a:solidFill>
            <a:srgbClr val="33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657600" y="4800600"/>
            <a:ext cx="2743200" cy="594360"/>
          </a:xfrm>
          <a:prstGeom prst="rect">
            <a:avLst/>
          </a:prstGeom>
          <a:noFill/>
        </p:spPr>
        <p:txBody>
          <a:bodyPr wrap="square">
            <a:spAutoFit/>
          </a:bodyPr>
          <a:lstStyle/>
          <a:p>
            <a:pPr algn="ctr"/>
            <a:r>
              <a:rPr sz="1200" b="1" i="0">
                <a:solidFill>
                  <a:srgbClr val="FFFFFF"/>
                </a:solidFill>
              </a:rPr>
              <a:t>Frient SMSZB-120 (Zigbee sensor)</a:t>
            </a:r>
          </a:p>
        </p:txBody>
      </p:sp>
      <p:sp>
        <p:nvSpPr>
          <p:cNvPr id="45" name="TextBox 44"/>
          <p:cNvSpPr txBox="1"/>
          <p:nvPr/>
        </p:nvSpPr>
        <p:spPr>
          <a:xfrm>
            <a:off x="2971800" y="4864608"/>
            <a:ext cx="685800" cy="457200"/>
          </a:xfrm>
          <a:prstGeom prst="rect">
            <a:avLst/>
          </a:prstGeom>
          <a:noFill/>
        </p:spPr>
        <p:txBody>
          <a:bodyPr wrap="square">
            <a:spAutoFit/>
          </a:bodyPr>
          <a:lstStyle/>
          <a:p>
            <a:pPr algn="l"/>
            <a:r>
              <a:rPr sz="1000" b="0" i="1">
                <a:solidFill>
                  <a:srgbClr val="009654"/>
                </a:solidFill>
              </a:rPr>
              <a:t>← Zigbee 802.15.4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11430000" cy="777240"/>
          </a:xfrm>
          <a:prstGeom prst="rect">
            <a:avLst/>
          </a:prstGeom>
          <a:noFill/>
        </p:spPr>
        <p:txBody>
          <a:bodyPr wrap="square">
            <a:spAutoFit/>
          </a:bodyPr>
          <a:lstStyle/>
          <a:p>
            <a:pPr algn="l"/>
            <a:r>
              <a:rPr sz="3200" b="1" i="0">
                <a:solidFill>
                  <a:srgbClr val="FFFFFF"/>
                </a:solidFill>
              </a:rPr>
              <a:t>Energy Data Flow</a:t>
            </a:r>
          </a:p>
        </p:txBody>
      </p:sp>
      <p:sp>
        <p:nvSpPr>
          <p:cNvPr id="5" name="TextBox 4"/>
          <p:cNvSpPr txBox="1"/>
          <p:nvPr/>
        </p:nvSpPr>
        <p:spPr>
          <a:xfrm>
            <a:off x="365760" y="804672"/>
            <a:ext cx="11430000" cy="411480"/>
          </a:xfrm>
          <a:prstGeom prst="rect">
            <a:avLst/>
          </a:prstGeom>
          <a:noFill/>
        </p:spPr>
        <p:txBody>
          <a:bodyPr wrap="square">
            <a:spAutoFit/>
          </a:bodyPr>
          <a:lstStyle/>
          <a:p>
            <a:pPr algn="l"/>
            <a:r>
              <a:rPr sz="1600" b="0" i="0">
                <a:solidFill>
                  <a:srgbClr val="F0AB00"/>
                </a:solidFill>
              </a:rPr>
              <a:t>From physical smart meter pulse to database — end-to-end</a:t>
            </a:r>
          </a:p>
        </p:txBody>
      </p:sp>
      <p:sp>
        <p:nvSpPr>
          <p:cNvPr id="6" name="Rectangle 5"/>
          <p:cNvSpPr/>
          <p:nvPr/>
        </p:nvSpPr>
        <p:spPr>
          <a:xfrm>
            <a:off x="0" y="1325880"/>
            <a:ext cx="12188952" cy="36576"/>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83680"/>
            <a:ext cx="5486400" cy="274320"/>
          </a:xfrm>
          <a:prstGeom prst="rect">
            <a:avLst/>
          </a:prstGeom>
          <a:noFill/>
        </p:spPr>
        <p:txBody>
          <a:bodyPr wrap="square">
            <a:spAutoFit/>
          </a:bodyPr>
          <a:lstStyle/>
          <a:p>
            <a:pPr algn="l"/>
            <a:r>
              <a:rPr sz="1000" b="0" i="0">
                <a:solidFill>
                  <a:srgbClr val="FFFFFF"/>
                </a:solidFill>
              </a:rPr>
              <a:t>MTU SmartCORE HEMS</a:t>
            </a:r>
          </a:p>
        </p:txBody>
      </p:sp>
      <p:sp>
        <p:nvSpPr>
          <p:cNvPr id="9" name="TextBox 8"/>
          <p:cNvSpPr txBox="1"/>
          <p:nvPr/>
        </p:nvSpPr>
        <p:spPr>
          <a:xfrm>
            <a:off x="6400800" y="6583680"/>
            <a:ext cx="5486400" cy="274320"/>
          </a:xfrm>
          <a:prstGeom prst="rect">
            <a:avLst/>
          </a:prstGeom>
          <a:noFill/>
        </p:spPr>
        <p:txBody>
          <a:bodyPr wrap="square">
            <a:spAutoFit/>
          </a:bodyPr>
          <a:lstStyle/>
          <a:p>
            <a:pPr algn="r"/>
            <a:r>
              <a:rPr sz="1000" b="0" i="0">
                <a:solidFill>
                  <a:srgbClr val="F0AB00"/>
                </a:solidFill>
              </a:rPr>
              <a:t>Interreg NWE SmartCORE</a:t>
            </a:r>
          </a:p>
        </p:txBody>
      </p:sp>
      <p:sp>
        <p:nvSpPr>
          <p:cNvPr id="10" name="Rectangle 9"/>
          <p:cNvSpPr/>
          <p:nvPr/>
        </p:nvSpPr>
        <p:spPr>
          <a:xfrm>
            <a:off x="-50292" y="1920240"/>
            <a:ext cx="1481328" cy="2103120"/>
          </a:xfrm>
          <a:prstGeom prst="rect">
            <a:avLst/>
          </a:prstGeom>
          <a:solidFill>
            <a:srgbClr val="33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 y="1993392"/>
            <a:ext cx="1389888" cy="594360"/>
          </a:xfrm>
          <a:prstGeom prst="rect">
            <a:avLst/>
          </a:prstGeom>
          <a:noFill/>
        </p:spPr>
        <p:txBody>
          <a:bodyPr wrap="square">
            <a:spAutoFit/>
          </a:bodyPr>
          <a:lstStyle/>
          <a:p>
            <a:pPr algn="ctr"/>
            <a:r>
              <a:rPr sz="1300" b="1" i="0">
                <a:solidFill>
                  <a:srgbClr val="FFFFFF"/>
                </a:solidFill>
              </a:rPr>
              <a:t>Smart Meter</a:t>
            </a:r>
          </a:p>
        </p:txBody>
      </p:sp>
      <p:sp>
        <p:nvSpPr>
          <p:cNvPr id="12" name="TextBox 11"/>
          <p:cNvSpPr txBox="1"/>
          <p:nvPr/>
        </p:nvSpPr>
        <p:spPr>
          <a:xfrm>
            <a:off x="-4572" y="2606040"/>
            <a:ext cx="1389888" cy="1325880"/>
          </a:xfrm>
          <a:prstGeom prst="rect">
            <a:avLst/>
          </a:prstGeom>
          <a:noFill/>
        </p:spPr>
        <p:txBody>
          <a:bodyPr wrap="square">
            <a:spAutoFit/>
          </a:bodyPr>
          <a:lstStyle/>
          <a:p>
            <a:pPr algn="ctr"/>
            <a:r>
              <a:rPr sz="1100" b="0" i="0">
                <a:solidFill>
                  <a:srgbClr val="DDFFDD"/>
                </a:solidFill>
              </a:rPr>
              <a:t>IR pulse output
(blink counter)</a:t>
            </a:r>
          </a:p>
        </p:txBody>
      </p:sp>
      <p:sp>
        <p:nvSpPr>
          <p:cNvPr id="13" name="TextBox 12"/>
          <p:cNvSpPr txBox="1"/>
          <p:nvPr/>
        </p:nvSpPr>
        <p:spPr>
          <a:xfrm>
            <a:off x="1431036" y="2743200"/>
            <a:ext cx="320040" cy="457200"/>
          </a:xfrm>
          <a:prstGeom prst="rect">
            <a:avLst/>
          </a:prstGeom>
          <a:noFill/>
        </p:spPr>
        <p:txBody>
          <a:bodyPr wrap="square">
            <a:spAutoFit/>
          </a:bodyPr>
          <a:lstStyle/>
          <a:p>
            <a:pPr algn="ctr"/>
            <a:r>
              <a:rPr sz="2000" b="1" i="0">
                <a:solidFill>
                  <a:srgbClr val="F0AB00"/>
                </a:solidFill>
              </a:rPr>
              <a:t>→</a:t>
            </a:r>
          </a:p>
        </p:txBody>
      </p:sp>
      <p:sp>
        <p:nvSpPr>
          <p:cNvPr id="14" name="Rectangle 13"/>
          <p:cNvSpPr/>
          <p:nvPr/>
        </p:nvSpPr>
        <p:spPr>
          <a:xfrm>
            <a:off x="1751076" y="1920240"/>
            <a:ext cx="1481328" cy="2103120"/>
          </a:xfrm>
          <a:prstGeom prst="rect">
            <a:avLst/>
          </a:prstGeom>
          <a:solidFill>
            <a:srgbClr val="007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96796" y="1993392"/>
            <a:ext cx="1389888" cy="594360"/>
          </a:xfrm>
          <a:prstGeom prst="rect">
            <a:avLst/>
          </a:prstGeom>
          <a:noFill/>
        </p:spPr>
        <p:txBody>
          <a:bodyPr wrap="square">
            <a:spAutoFit/>
          </a:bodyPr>
          <a:lstStyle/>
          <a:p>
            <a:pPr algn="ctr"/>
            <a:r>
              <a:rPr sz="1300" b="1" i="0">
                <a:solidFill>
                  <a:srgbClr val="FFFFFF"/>
                </a:solidFill>
              </a:rPr>
              <a:t>Frient
SMSZB-120</a:t>
            </a:r>
          </a:p>
        </p:txBody>
      </p:sp>
      <p:sp>
        <p:nvSpPr>
          <p:cNvPr id="16" name="TextBox 15"/>
          <p:cNvSpPr txBox="1"/>
          <p:nvPr/>
        </p:nvSpPr>
        <p:spPr>
          <a:xfrm>
            <a:off x="1796796" y="2606040"/>
            <a:ext cx="1389888" cy="1325880"/>
          </a:xfrm>
          <a:prstGeom prst="rect">
            <a:avLst/>
          </a:prstGeom>
          <a:noFill/>
        </p:spPr>
        <p:txBody>
          <a:bodyPr wrap="square">
            <a:spAutoFit/>
          </a:bodyPr>
          <a:lstStyle/>
          <a:p>
            <a:pPr algn="ctr"/>
            <a:r>
              <a:rPr sz="1100" b="0" i="0">
                <a:solidFill>
                  <a:srgbClr val="DDFFDD"/>
                </a:solidFill>
              </a:rPr>
              <a:t>Counts pulses
→ kWh / W</a:t>
            </a:r>
          </a:p>
        </p:txBody>
      </p:sp>
      <p:sp>
        <p:nvSpPr>
          <p:cNvPr id="17" name="TextBox 16"/>
          <p:cNvSpPr txBox="1"/>
          <p:nvPr/>
        </p:nvSpPr>
        <p:spPr>
          <a:xfrm>
            <a:off x="3232404" y="2743200"/>
            <a:ext cx="320040" cy="457200"/>
          </a:xfrm>
          <a:prstGeom prst="rect">
            <a:avLst/>
          </a:prstGeom>
          <a:noFill/>
        </p:spPr>
        <p:txBody>
          <a:bodyPr wrap="square">
            <a:spAutoFit/>
          </a:bodyPr>
          <a:lstStyle/>
          <a:p>
            <a:pPr algn="ctr"/>
            <a:r>
              <a:rPr sz="2000" b="1" i="0">
                <a:solidFill>
                  <a:srgbClr val="F0AB00"/>
                </a:solidFill>
              </a:rPr>
              <a:t>→</a:t>
            </a:r>
          </a:p>
        </p:txBody>
      </p:sp>
      <p:sp>
        <p:nvSpPr>
          <p:cNvPr id="18" name="Rectangle 17"/>
          <p:cNvSpPr/>
          <p:nvPr/>
        </p:nvSpPr>
        <p:spPr>
          <a:xfrm>
            <a:off x="3552444" y="1920240"/>
            <a:ext cx="1481328" cy="2103120"/>
          </a:xfrm>
          <a:prstGeom prst="rect">
            <a:avLst/>
          </a:prstGeom>
          <a:solidFill>
            <a:srgbClr val="006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598164" y="1993392"/>
            <a:ext cx="1389888" cy="594360"/>
          </a:xfrm>
          <a:prstGeom prst="rect">
            <a:avLst/>
          </a:prstGeom>
          <a:noFill/>
        </p:spPr>
        <p:txBody>
          <a:bodyPr wrap="square">
            <a:spAutoFit/>
          </a:bodyPr>
          <a:lstStyle/>
          <a:p>
            <a:pPr algn="ctr"/>
            <a:r>
              <a:rPr sz="1300" b="1" i="0">
                <a:solidFill>
                  <a:srgbClr val="FFFFFF"/>
                </a:solidFill>
              </a:rPr>
              <a:t>Sonoff
ZBDongle-E</a:t>
            </a:r>
          </a:p>
        </p:txBody>
      </p:sp>
      <p:sp>
        <p:nvSpPr>
          <p:cNvPr id="20" name="TextBox 19"/>
          <p:cNvSpPr txBox="1"/>
          <p:nvPr/>
        </p:nvSpPr>
        <p:spPr>
          <a:xfrm>
            <a:off x="3598164" y="2606040"/>
            <a:ext cx="1389888" cy="1325880"/>
          </a:xfrm>
          <a:prstGeom prst="rect">
            <a:avLst/>
          </a:prstGeom>
          <a:noFill/>
        </p:spPr>
        <p:txBody>
          <a:bodyPr wrap="square">
            <a:spAutoFit/>
          </a:bodyPr>
          <a:lstStyle/>
          <a:p>
            <a:pPr algn="ctr"/>
            <a:r>
              <a:rPr sz="1100" b="0" i="0">
                <a:solidFill>
                  <a:srgbClr val="DDFFDD"/>
                </a:solidFill>
              </a:rPr>
              <a:t>USB Zigbee
coordinator
(EZSP)</a:t>
            </a:r>
          </a:p>
        </p:txBody>
      </p:sp>
      <p:sp>
        <p:nvSpPr>
          <p:cNvPr id="21" name="TextBox 20"/>
          <p:cNvSpPr txBox="1"/>
          <p:nvPr/>
        </p:nvSpPr>
        <p:spPr>
          <a:xfrm>
            <a:off x="5033772" y="2743200"/>
            <a:ext cx="320040" cy="457200"/>
          </a:xfrm>
          <a:prstGeom prst="rect">
            <a:avLst/>
          </a:prstGeom>
          <a:noFill/>
        </p:spPr>
        <p:txBody>
          <a:bodyPr wrap="square">
            <a:spAutoFit/>
          </a:bodyPr>
          <a:lstStyle/>
          <a:p>
            <a:pPr algn="ctr"/>
            <a:r>
              <a:rPr sz="2000" b="1" i="0">
                <a:solidFill>
                  <a:srgbClr val="F0AB00"/>
                </a:solidFill>
              </a:rPr>
              <a:t>→</a:t>
            </a:r>
          </a:p>
        </p:txBody>
      </p:sp>
      <p:sp>
        <p:nvSpPr>
          <p:cNvPr id="22" name="Rectangle 21"/>
          <p:cNvSpPr/>
          <p:nvPr/>
        </p:nvSpPr>
        <p:spPr>
          <a:xfrm>
            <a:off x="5353812" y="1920240"/>
            <a:ext cx="1481328" cy="21031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99532" y="1993392"/>
            <a:ext cx="1389888" cy="594360"/>
          </a:xfrm>
          <a:prstGeom prst="rect">
            <a:avLst/>
          </a:prstGeom>
          <a:noFill/>
        </p:spPr>
        <p:txBody>
          <a:bodyPr wrap="square">
            <a:spAutoFit/>
          </a:bodyPr>
          <a:lstStyle/>
          <a:p>
            <a:pPr algn="ctr"/>
            <a:r>
              <a:rPr sz="1300" b="1" i="0">
                <a:solidFill>
                  <a:srgbClr val="FFFFFF"/>
                </a:solidFill>
              </a:rPr>
              <a:t>ZHA
(in HA)</a:t>
            </a:r>
          </a:p>
        </p:txBody>
      </p:sp>
      <p:sp>
        <p:nvSpPr>
          <p:cNvPr id="24" name="TextBox 23"/>
          <p:cNvSpPr txBox="1"/>
          <p:nvPr/>
        </p:nvSpPr>
        <p:spPr>
          <a:xfrm>
            <a:off x="5399532" y="2606040"/>
            <a:ext cx="1389888" cy="1325880"/>
          </a:xfrm>
          <a:prstGeom prst="rect">
            <a:avLst/>
          </a:prstGeom>
          <a:noFill/>
        </p:spPr>
        <p:txBody>
          <a:bodyPr wrap="square">
            <a:spAutoFit/>
          </a:bodyPr>
          <a:lstStyle/>
          <a:p>
            <a:pPr algn="ctr"/>
            <a:r>
              <a:rPr sz="1100" b="0" i="0">
                <a:solidFill>
                  <a:srgbClr val="DDFFDD"/>
                </a:solidFill>
              </a:rPr>
              <a:t>Zigbee Home
Automation
integration</a:t>
            </a:r>
          </a:p>
        </p:txBody>
      </p:sp>
      <p:sp>
        <p:nvSpPr>
          <p:cNvPr id="25" name="TextBox 24"/>
          <p:cNvSpPr txBox="1"/>
          <p:nvPr/>
        </p:nvSpPr>
        <p:spPr>
          <a:xfrm>
            <a:off x="6835140" y="2743200"/>
            <a:ext cx="320040" cy="457200"/>
          </a:xfrm>
          <a:prstGeom prst="rect">
            <a:avLst/>
          </a:prstGeom>
          <a:noFill/>
        </p:spPr>
        <p:txBody>
          <a:bodyPr wrap="square">
            <a:spAutoFit/>
          </a:bodyPr>
          <a:lstStyle/>
          <a:p>
            <a:pPr algn="ctr"/>
            <a:r>
              <a:rPr sz="2000" b="1" i="0">
                <a:solidFill>
                  <a:srgbClr val="F0AB00"/>
                </a:solidFill>
              </a:rPr>
              <a:t>→</a:t>
            </a:r>
          </a:p>
        </p:txBody>
      </p:sp>
      <p:sp>
        <p:nvSpPr>
          <p:cNvPr id="26" name="Rectangle 25"/>
          <p:cNvSpPr/>
          <p:nvPr/>
        </p:nvSpPr>
        <p:spPr>
          <a:xfrm>
            <a:off x="7155180" y="1920240"/>
            <a:ext cx="1481328" cy="21031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00900" y="1993392"/>
            <a:ext cx="1389888" cy="594360"/>
          </a:xfrm>
          <a:prstGeom prst="rect">
            <a:avLst/>
          </a:prstGeom>
          <a:noFill/>
        </p:spPr>
        <p:txBody>
          <a:bodyPr wrap="square">
            <a:spAutoFit/>
          </a:bodyPr>
          <a:lstStyle/>
          <a:p>
            <a:pPr algn="ctr"/>
            <a:r>
              <a:rPr sz="1300" b="1" i="0">
                <a:solidFill>
                  <a:srgbClr val="FFFFFF"/>
                </a:solidFill>
              </a:rPr>
              <a:t>HA State
Machine</a:t>
            </a:r>
          </a:p>
        </p:txBody>
      </p:sp>
      <p:sp>
        <p:nvSpPr>
          <p:cNvPr id="28" name="TextBox 27"/>
          <p:cNvSpPr txBox="1"/>
          <p:nvPr/>
        </p:nvSpPr>
        <p:spPr>
          <a:xfrm>
            <a:off x="7200900" y="2606040"/>
            <a:ext cx="1389888" cy="1325880"/>
          </a:xfrm>
          <a:prstGeom prst="rect">
            <a:avLst/>
          </a:prstGeom>
          <a:noFill/>
        </p:spPr>
        <p:txBody>
          <a:bodyPr wrap="square">
            <a:spAutoFit/>
          </a:bodyPr>
          <a:lstStyle/>
          <a:p>
            <a:pPr algn="ctr"/>
            <a:r>
              <a:rPr sz="1100" b="0" i="0">
                <a:solidFill>
                  <a:srgbClr val="DDFFDD"/>
                </a:solidFill>
              </a:rPr>
              <a:t>Entity states
updated every
60 s</a:t>
            </a:r>
          </a:p>
        </p:txBody>
      </p:sp>
      <p:sp>
        <p:nvSpPr>
          <p:cNvPr id="29" name="TextBox 28"/>
          <p:cNvSpPr txBox="1"/>
          <p:nvPr/>
        </p:nvSpPr>
        <p:spPr>
          <a:xfrm>
            <a:off x="8636508" y="2743200"/>
            <a:ext cx="320040" cy="457200"/>
          </a:xfrm>
          <a:prstGeom prst="rect">
            <a:avLst/>
          </a:prstGeom>
          <a:noFill/>
        </p:spPr>
        <p:txBody>
          <a:bodyPr wrap="square">
            <a:spAutoFit/>
          </a:bodyPr>
          <a:lstStyle/>
          <a:p>
            <a:pPr algn="ctr"/>
            <a:r>
              <a:rPr sz="2000" b="1" i="0">
                <a:solidFill>
                  <a:srgbClr val="F0AB00"/>
                </a:solidFill>
              </a:rPr>
              <a:t>→</a:t>
            </a:r>
          </a:p>
        </p:txBody>
      </p:sp>
      <p:sp>
        <p:nvSpPr>
          <p:cNvPr id="30" name="Rectangle 29"/>
          <p:cNvSpPr/>
          <p:nvPr/>
        </p:nvSpPr>
        <p:spPr>
          <a:xfrm>
            <a:off x="8956548" y="1920240"/>
            <a:ext cx="1481328" cy="2103120"/>
          </a:xfrm>
          <a:prstGeom prst="rect">
            <a:avLst/>
          </a:prstGeom>
          <a:solidFill>
            <a:srgbClr val="009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02268" y="1993392"/>
            <a:ext cx="1389888" cy="594360"/>
          </a:xfrm>
          <a:prstGeom prst="rect">
            <a:avLst/>
          </a:prstGeom>
          <a:noFill/>
        </p:spPr>
        <p:txBody>
          <a:bodyPr wrap="square">
            <a:spAutoFit/>
          </a:bodyPr>
          <a:lstStyle/>
          <a:p>
            <a:pPr algn="ctr"/>
            <a:r>
              <a:rPr sz="1300" b="1" i="0">
                <a:solidFill>
                  <a:srgbClr val="FFFFFF"/>
                </a:solidFill>
              </a:rPr>
              <a:t>InfluxDB
Integration</a:t>
            </a:r>
          </a:p>
        </p:txBody>
      </p:sp>
      <p:sp>
        <p:nvSpPr>
          <p:cNvPr id="32" name="TextBox 31"/>
          <p:cNvSpPr txBox="1"/>
          <p:nvPr/>
        </p:nvSpPr>
        <p:spPr>
          <a:xfrm>
            <a:off x="9002268" y="2606040"/>
            <a:ext cx="1389888" cy="1325880"/>
          </a:xfrm>
          <a:prstGeom prst="rect">
            <a:avLst/>
          </a:prstGeom>
          <a:noFill/>
        </p:spPr>
        <p:txBody>
          <a:bodyPr wrap="square">
            <a:spAutoFit/>
          </a:bodyPr>
          <a:lstStyle/>
          <a:p>
            <a:pPr algn="ctr"/>
            <a:r>
              <a:rPr sz="1100" b="0" i="0">
                <a:solidFill>
                  <a:srgbClr val="DDFFDD"/>
                </a:solidFill>
              </a:rPr>
              <a:t>HTTP POST
Line Protocol
→ InfluxDB</a:t>
            </a:r>
          </a:p>
        </p:txBody>
      </p:sp>
      <p:sp>
        <p:nvSpPr>
          <p:cNvPr id="33" name="TextBox 32"/>
          <p:cNvSpPr txBox="1"/>
          <p:nvPr/>
        </p:nvSpPr>
        <p:spPr>
          <a:xfrm>
            <a:off x="10437876" y="2743200"/>
            <a:ext cx="320040" cy="457200"/>
          </a:xfrm>
          <a:prstGeom prst="rect">
            <a:avLst/>
          </a:prstGeom>
          <a:noFill/>
        </p:spPr>
        <p:txBody>
          <a:bodyPr wrap="square">
            <a:spAutoFit/>
          </a:bodyPr>
          <a:lstStyle/>
          <a:p>
            <a:pPr algn="ctr"/>
            <a:r>
              <a:rPr sz="2000" b="1" i="0">
                <a:solidFill>
                  <a:srgbClr val="F0AB00"/>
                </a:solidFill>
              </a:rPr>
              <a:t>→</a:t>
            </a:r>
          </a:p>
        </p:txBody>
      </p:sp>
      <p:sp>
        <p:nvSpPr>
          <p:cNvPr id="34" name="Rectangle 33"/>
          <p:cNvSpPr/>
          <p:nvPr/>
        </p:nvSpPr>
        <p:spPr>
          <a:xfrm>
            <a:off x="10757916" y="1920240"/>
            <a:ext cx="1481328" cy="2103120"/>
          </a:xfrm>
          <a:prstGeom prst="rect">
            <a:avLst/>
          </a:prstGeom>
          <a:solidFill>
            <a:srgbClr val="00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803636" y="1993392"/>
            <a:ext cx="1389888" cy="594360"/>
          </a:xfrm>
          <a:prstGeom prst="rect">
            <a:avLst/>
          </a:prstGeom>
          <a:noFill/>
        </p:spPr>
        <p:txBody>
          <a:bodyPr wrap="square">
            <a:spAutoFit/>
          </a:bodyPr>
          <a:lstStyle/>
          <a:p>
            <a:pPr algn="ctr"/>
            <a:r>
              <a:rPr sz="1300" b="1" i="0">
                <a:solidFill>
                  <a:srgbClr val="FFFFFF"/>
                </a:solidFill>
              </a:rPr>
              <a:t>InfluxDB 2</a:t>
            </a:r>
          </a:p>
        </p:txBody>
      </p:sp>
      <p:sp>
        <p:nvSpPr>
          <p:cNvPr id="36" name="TextBox 35"/>
          <p:cNvSpPr txBox="1"/>
          <p:nvPr/>
        </p:nvSpPr>
        <p:spPr>
          <a:xfrm>
            <a:off x="10803636" y="2606040"/>
            <a:ext cx="1389888" cy="1325880"/>
          </a:xfrm>
          <a:prstGeom prst="rect">
            <a:avLst/>
          </a:prstGeom>
          <a:noFill/>
        </p:spPr>
        <p:txBody>
          <a:bodyPr wrap="square">
            <a:spAutoFit/>
          </a:bodyPr>
          <a:lstStyle/>
          <a:p>
            <a:pPr algn="ctr"/>
            <a:r>
              <a:rPr sz="1100" b="0" i="0">
                <a:solidFill>
                  <a:srgbClr val="DDFFDD"/>
                </a:solidFill>
              </a:rPr>
              <a:t>Time-series DB
bucket:
home_assistant</a:t>
            </a:r>
          </a:p>
        </p:txBody>
      </p:sp>
      <p:sp>
        <p:nvSpPr>
          <p:cNvPr id="37" name="TextBox 36"/>
          <p:cNvSpPr txBox="1"/>
          <p:nvPr/>
        </p:nvSpPr>
        <p:spPr>
          <a:xfrm>
            <a:off x="-50292" y="4160520"/>
            <a:ext cx="1801368" cy="457200"/>
          </a:xfrm>
          <a:prstGeom prst="rect">
            <a:avLst/>
          </a:prstGeom>
          <a:noFill/>
        </p:spPr>
        <p:txBody>
          <a:bodyPr wrap="square">
            <a:spAutoFit/>
          </a:bodyPr>
          <a:lstStyle/>
          <a:p>
            <a:pPr algn="ctr"/>
            <a:r>
              <a:rPr sz="1100" b="0" i="1">
                <a:solidFill>
                  <a:srgbClr val="009654"/>
                </a:solidFill>
              </a:rPr>
              <a:t>Zigbee 802.15.4</a:t>
            </a:r>
          </a:p>
        </p:txBody>
      </p:sp>
      <p:sp>
        <p:nvSpPr>
          <p:cNvPr id="38" name="TextBox 37"/>
          <p:cNvSpPr txBox="1"/>
          <p:nvPr/>
        </p:nvSpPr>
        <p:spPr>
          <a:xfrm>
            <a:off x="3552444" y="4160520"/>
            <a:ext cx="1801368" cy="457200"/>
          </a:xfrm>
          <a:prstGeom prst="rect">
            <a:avLst/>
          </a:prstGeom>
          <a:noFill/>
        </p:spPr>
        <p:txBody>
          <a:bodyPr wrap="square">
            <a:spAutoFit/>
          </a:bodyPr>
          <a:lstStyle/>
          <a:p>
            <a:pPr algn="ctr"/>
            <a:r>
              <a:rPr sz="1100" b="0" i="1">
                <a:solidFill>
                  <a:srgbClr val="0070C0"/>
                </a:solidFill>
              </a:rPr>
              <a:t>EZSP/USB serial</a:t>
            </a:r>
          </a:p>
        </p:txBody>
      </p:sp>
      <p:sp>
        <p:nvSpPr>
          <p:cNvPr id="39" name="TextBox 38"/>
          <p:cNvSpPr txBox="1"/>
          <p:nvPr/>
        </p:nvSpPr>
        <p:spPr>
          <a:xfrm>
            <a:off x="5353812" y="4160520"/>
            <a:ext cx="1801368" cy="457200"/>
          </a:xfrm>
          <a:prstGeom prst="rect">
            <a:avLst/>
          </a:prstGeom>
          <a:noFill/>
        </p:spPr>
        <p:txBody>
          <a:bodyPr wrap="square">
            <a:spAutoFit/>
          </a:bodyPr>
          <a:lstStyle/>
          <a:p>
            <a:pPr algn="ctr"/>
            <a:r>
              <a:rPr sz="1100" b="0" i="1">
                <a:solidFill>
                  <a:srgbClr val="003087"/>
                </a:solidFill>
              </a:rPr>
              <a:t>HA internal bus</a:t>
            </a:r>
          </a:p>
        </p:txBody>
      </p:sp>
      <p:sp>
        <p:nvSpPr>
          <p:cNvPr id="40" name="TextBox 39"/>
          <p:cNvSpPr txBox="1"/>
          <p:nvPr/>
        </p:nvSpPr>
        <p:spPr>
          <a:xfrm>
            <a:off x="8956548" y="4160520"/>
            <a:ext cx="1801368" cy="457200"/>
          </a:xfrm>
          <a:prstGeom prst="rect">
            <a:avLst/>
          </a:prstGeom>
          <a:noFill/>
        </p:spPr>
        <p:txBody>
          <a:bodyPr wrap="square">
            <a:spAutoFit/>
          </a:bodyPr>
          <a:lstStyle/>
          <a:p>
            <a:pPr algn="ctr"/>
            <a:r>
              <a:rPr sz="1100" b="0" i="1">
                <a:solidFill>
                  <a:srgbClr val="009654"/>
                </a:solidFill>
              </a:rPr>
              <a:t>HTTP /api/v2/write
(Line Protocol)</a:t>
            </a:r>
          </a:p>
        </p:txBody>
      </p:sp>
      <p:sp>
        <p:nvSpPr>
          <p:cNvPr id="41" name="Rectangle 40"/>
          <p:cNvSpPr/>
          <p:nvPr/>
        </p:nvSpPr>
        <p:spPr>
          <a:xfrm>
            <a:off x="274320" y="5120640"/>
            <a:ext cx="11612880" cy="685800"/>
          </a:xfrm>
          <a:prstGeom prst="rect">
            <a:avLst/>
          </a:prstGeom>
          <a:solidFill>
            <a:srgbClr val="FFF8E0"/>
          </a:solidFill>
          <a:ln w="19050">
            <a:solidFill>
              <a:srgbClr val="F0A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1480" y="5166360"/>
            <a:ext cx="11338560" cy="594360"/>
          </a:xfrm>
          <a:prstGeom prst="rect">
            <a:avLst/>
          </a:prstGeom>
          <a:noFill/>
        </p:spPr>
        <p:txBody>
          <a:bodyPr wrap="square">
            <a:spAutoFit/>
          </a:bodyPr>
          <a:lstStyle/>
          <a:p>
            <a:pPr algn="l"/>
            <a:r>
              <a:rPr sz="1200" b="0" i="1">
                <a:solidFill>
                  <a:srgbClr val="333333"/>
                </a:solidFill>
              </a:rPr>
              <a:t>Note: MQTT broker is present but idle in the current ZHA deployment. Zigbee2MQTT is an alternative architecture that routes all data through MQTT (see Slide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11430000" cy="777240"/>
          </a:xfrm>
          <a:prstGeom prst="rect">
            <a:avLst/>
          </a:prstGeom>
          <a:noFill/>
        </p:spPr>
        <p:txBody>
          <a:bodyPr wrap="square">
            <a:spAutoFit/>
          </a:bodyPr>
          <a:lstStyle/>
          <a:p>
            <a:pPr algn="l"/>
            <a:r>
              <a:rPr sz="3200" b="1" i="0">
                <a:solidFill>
                  <a:srgbClr val="FFFFFF"/>
                </a:solidFill>
              </a:rPr>
              <a:t>Key Services — What Each One Does</a:t>
            </a:r>
          </a:p>
        </p:txBody>
      </p:sp>
      <p:sp>
        <p:nvSpPr>
          <p:cNvPr id="5" name="Rectangle 4"/>
          <p:cNvSpPr/>
          <p:nvPr/>
        </p:nvSpPr>
        <p:spPr>
          <a:xfrm>
            <a:off x="0" y="1005840"/>
            <a:ext cx="12188952" cy="36576"/>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6583680"/>
            <a:ext cx="5486400" cy="274320"/>
          </a:xfrm>
          <a:prstGeom prst="rect">
            <a:avLst/>
          </a:prstGeom>
          <a:noFill/>
        </p:spPr>
        <p:txBody>
          <a:bodyPr wrap="square">
            <a:spAutoFit/>
          </a:bodyPr>
          <a:lstStyle/>
          <a:p>
            <a:pPr algn="l"/>
            <a:r>
              <a:rPr sz="1000" b="0" i="0">
                <a:solidFill>
                  <a:srgbClr val="FFFFFF"/>
                </a:solidFill>
              </a:rPr>
              <a:t>MTU SmartCORE HEMS</a:t>
            </a:r>
          </a:p>
        </p:txBody>
      </p:sp>
      <p:sp>
        <p:nvSpPr>
          <p:cNvPr id="8" name="TextBox 7"/>
          <p:cNvSpPr txBox="1"/>
          <p:nvPr/>
        </p:nvSpPr>
        <p:spPr>
          <a:xfrm>
            <a:off x="6400800" y="6583680"/>
            <a:ext cx="5486400" cy="274320"/>
          </a:xfrm>
          <a:prstGeom prst="rect">
            <a:avLst/>
          </a:prstGeom>
          <a:noFill/>
        </p:spPr>
        <p:txBody>
          <a:bodyPr wrap="square">
            <a:spAutoFit/>
          </a:bodyPr>
          <a:lstStyle/>
          <a:p>
            <a:pPr algn="r"/>
            <a:r>
              <a:rPr sz="1000" b="0" i="0">
                <a:solidFill>
                  <a:srgbClr val="F0AB00"/>
                </a:solidFill>
              </a:rPr>
              <a:t>Interreg NWE SmartCORE</a:t>
            </a:r>
          </a:p>
        </p:txBody>
      </p:sp>
      <p:sp>
        <p:nvSpPr>
          <p:cNvPr id="9" name="Rectangle 8"/>
          <p:cNvSpPr/>
          <p:nvPr/>
        </p:nvSpPr>
        <p:spPr>
          <a:xfrm>
            <a:off x="274320" y="1097280"/>
            <a:ext cx="3840480" cy="2331720"/>
          </a:xfrm>
          <a:prstGeom prst="rect">
            <a:avLst/>
          </a:prstGeom>
          <a:solidFill>
            <a:srgbClr val="F2F2F2"/>
          </a:solidFill>
          <a:ln w="254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97280"/>
            <a:ext cx="384048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4048" y="1115568"/>
            <a:ext cx="3657600" cy="329184"/>
          </a:xfrm>
          <a:prstGeom prst="rect">
            <a:avLst/>
          </a:prstGeom>
          <a:noFill/>
        </p:spPr>
        <p:txBody>
          <a:bodyPr wrap="square">
            <a:spAutoFit/>
          </a:bodyPr>
          <a:lstStyle/>
          <a:p>
            <a:pPr algn="l"/>
            <a:r>
              <a:rPr sz="1300" b="1" i="0">
                <a:solidFill>
                  <a:srgbClr val="FFFFFF"/>
                </a:solidFill>
              </a:rPr>
              <a:t>Home Assistant</a:t>
            </a:r>
          </a:p>
        </p:txBody>
      </p:sp>
      <p:sp>
        <p:nvSpPr>
          <p:cNvPr id="12" name="TextBox 11"/>
          <p:cNvSpPr txBox="1"/>
          <p:nvPr/>
        </p:nvSpPr>
        <p:spPr>
          <a:xfrm>
            <a:off x="384048" y="1481328"/>
            <a:ext cx="3657600" cy="1874520"/>
          </a:xfrm>
          <a:prstGeom prst="rect">
            <a:avLst/>
          </a:prstGeom>
          <a:noFill/>
        </p:spPr>
        <p:txBody>
          <a:bodyPr wrap="square">
            <a:spAutoFit/>
          </a:bodyPr>
          <a:lstStyle/>
          <a:p>
            <a:r>
              <a:rPr sz="1300">
                <a:solidFill>
                  <a:srgbClr val="333333"/>
                </a:solidFill>
              </a:rPr>
              <a:t>• Central data hub &amp; user dashboard</a:t>
            </a:r>
          </a:p>
          <a:p>
            <a:r>
              <a:rPr sz="1300">
                <a:solidFill>
                  <a:srgbClr val="333333"/>
                </a:solidFill>
              </a:rPr>
              <a:t>• Manages Zigbee devices via ZHA integration</a:t>
            </a:r>
          </a:p>
          <a:p>
            <a:r>
              <a:rPr sz="1300">
                <a:solidFill>
                  <a:srgbClr val="333333"/>
                </a:solidFill>
              </a:rPr>
              <a:t>• Syncs all sensor states → InfluxDB automatically</a:t>
            </a:r>
          </a:p>
          <a:p>
            <a:r>
              <a:rPr sz="1300">
                <a:solidFill>
                  <a:srgbClr val="333333"/>
                </a:solidFill>
              </a:rPr>
              <a:t>• Automation engine (backups, alerts)</a:t>
            </a:r>
          </a:p>
          <a:p>
            <a:r>
              <a:rPr sz="1300">
                <a:solidFill>
                  <a:srgbClr val="333333"/>
                </a:solidFill>
              </a:rPr>
              <a:t>• Trusted proxy via Nginx</a:t>
            </a:r>
          </a:p>
        </p:txBody>
      </p:sp>
      <p:sp>
        <p:nvSpPr>
          <p:cNvPr id="13" name="Rectangle 12"/>
          <p:cNvSpPr/>
          <p:nvPr/>
        </p:nvSpPr>
        <p:spPr>
          <a:xfrm>
            <a:off x="4251960" y="1097280"/>
            <a:ext cx="3840480" cy="2331720"/>
          </a:xfrm>
          <a:prstGeom prst="rect">
            <a:avLst/>
          </a:prstGeom>
          <a:solidFill>
            <a:srgbClr val="F2F2F2"/>
          </a:solidFill>
          <a:ln w="25400">
            <a:solidFill>
              <a:srgbClr val="009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51960" y="1097280"/>
            <a:ext cx="3840480" cy="347472"/>
          </a:xfrm>
          <a:prstGeom prst="rect">
            <a:avLst/>
          </a:prstGeom>
          <a:solidFill>
            <a:srgbClr val="009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61688" y="1115568"/>
            <a:ext cx="3657600" cy="329184"/>
          </a:xfrm>
          <a:prstGeom prst="rect">
            <a:avLst/>
          </a:prstGeom>
          <a:noFill/>
        </p:spPr>
        <p:txBody>
          <a:bodyPr wrap="square">
            <a:spAutoFit/>
          </a:bodyPr>
          <a:lstStyle/>
          <a:p>
            <a:pPr algn="l"/>
            <a:r>
              <a:rPr sz="1300" b="1" i="0">
                <a:solidFill>
                  <a:srgbClr val="FFFFFF"/>
                </a:solidFill>
              </a:rPr>
              <a:t>InfluxDB 2</a:t>
            </a:r>
          </a:p>
        </p:txBody>
      </p:sp>
      <p:sp>
        <p:nvSpPr>
          <p:cNvPr id="16" name="TextBox 15"/>
          <p:cNvSpPr txBox="1"/>
          <p:nvPr/>
        </p:nvSpPr>
        <p:spPr>
          <a:xfrm>
            <a:off x="4361688" y="1481328"/>
            <a:ext cx="3657600" cy="1874520"/>
          </a:xfrm>
          <a:prstGeom prst="rect">
            <a:avLst/>
          </a:prstGeom>
          <a:noFill/>
        </p:spPr>
        <p:txBody>
          <a:bodyPr wrap="square">
            <a:spAutoFit/>
          </a:bodyPr>
          <a:lstStyle/>
          <a:p>
            <a:r>
              <a:rPr sz="1300">
                <a:solidFill>
                  <a:srgbClr val="333333"/>
                </a:solidFill>
              </a:rPr>
              <a:t>• Time-series database for all energy data</a:t>
            </a:r>
          </a:p>
          <a:p>
            <a:r>
              <a:rPr sz="1300">
                <a:solidFill>
                  <a:srgbClr val="333333"/>
                </a:solidFill>
              </a:rPr>
              <a:t>• Bucket: home_assistant  |  Org: hems</a:t>
            </a:r>
          </a:p>
          <a:p>
            <a:r>
              <a:rPr sz="1300">
                <a:solidFill>
                  <a:srgbClr val="333333"/>
                </a:solidFill>
              </a:rPr>
              <a:t>• Queried via Flux language / REST API</a:t>
            </a:r>
          </a:p>
          <a:p>
            <a:r>
              <a:rPr sz="1300">
                <a:solidFill>
                  <a:srgbClr val="333333"/>
                </a:solidFill>
              </a:rPr>
              <a:t>• Retains full history for research analysis</a:t>
            </a:r>
          </a:p>
          <a:p>
            <a:r>
              <a:rPr sz="1300">
                <a:solidFill>
                  <a:srgbClr val="333333"/>
                </a:solidFill>
              </a:rPr>
              <a:t>• UI accessible at /influx/ via Nginx</a:t>
            </a:r>
          </a:p>
        </p:txBody>
      </p:sp>
      <p:sp>
        <p:nvSpPr>
          <p:cNvPr id="17" name="Rectangle 16"/>
          <p:cNvSpPr/>
          <p:nvPr/>
        </p:nvSpPr>
        <p:spPr>
          <a:xfrm>
            <a:off x="8229600" y="1097280"/>
            <a:ext cx="3840480" cy="2331720"/>
          </a:xfrm>
          <a:prstGeom prst="rect">
            <a:avLst/>
          </a:prstGeom>
          <a:solidFill>
            <a:srgbClr val="F2F2F2"/>
          </a:solidFill>
          <a:ln w="254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9600" y="1097280"/>
            <a:ext cx="3840480" cy="34747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39328" y="1115568"/>
            <a:ext cx="3657600" cy="329184"/>
          </a:xfrm>
          <a:prstGeom prst="rect">
            <a:avLst/>
          </a:prstGeom>
          <a:noFill/>
        </p:spPr>
        <p:txBody>
          <a:bodyPr wrap="square">
            <a:spAutoFit/>
          </a:bodyPr>
          <a:lstStyle/>
          <a:p>
            <a:pPr algn="l"/>
            <a:r>
              <a:rPr sz="1300" b="1" i="0">
                <a:solidFill>
                  <a:srgbClr val="FFFFFF"/>
                </a:solidFill>
              </a:rPr>
              <a:t>Nginx Reverse Proxy</a:t>
            </a:r>
          </a:p>
        </p:txBody>
      </p:sp>
      <p:sp>
        <p:nvSpPr>
          <p:cNvPr id="20" name="TextBox 19"/>
          <p:cNvSpPr txBox="1"/>
          <p:nvPr/>
        </p:nvSpPr>
        <p:spPr>
          <a:xfrm>
            <a:off x="8339328" y="1481328"/>
            <a:ext cx="3657600" cy="1874520"/>
          </a:xfrm>
          <a:prstGeom prst="rect">
            <a:avLst/>
          </a:prstGeom>
          <a:noFill/>
        </p:spPr>
        <p:txBody>
          <a:bodyPr wrap="square">
            <a:spAutoFit/>
          </a:bodyPr>
          <a:lstStyle/>
          <a:p>
            <a:r>
              <a:rPr sz="1300">
                <a:solidFill>
                  <a:srgbClr val="333333"/>
                </a:solidFill>
              </a:rPr>
              <a:t>• Single entry point — port 80 on host</a:t>
            </a:r>
          </a:p>
          <a:p>
            <a:r>
              <a:rPr sz="1300">
                <a:solidFill>
                  <a:srgbClr val="333333"/>
                </a:solidFill>
              </a:rPr>
              <a:t>• Basic auth (CONFIG_USER / CONFIG_PASSWORD)</a:t>
            </a:r>
          </a:p>
          <a:p>
            <a:r>
              <a:rPr sz="1300">
                <a:solidFill>
                  <a:srgbClr val="333333"/>
                </a:solidFill>
              </a:rPr>
              <a:t>• Routes /  →  HA, /influx/  →  InfluxDB</a:t>
            </a:r>
          </a:p>
          <a:p>
            <a:r>
              <a:rPr sz="1300">
                <a:solidFill>
                  <a:srgbClr val="333333"/>
                </a:solidFill>
              </a:rPr>
              <a:t>• WebSocket upgrade headers for HA live UI</a:t>
            </a:r>
          </a:p>
          <a:p>
            <a:r>
              <a:rPr sz="1300">
                <a:solidFill>
                  <a:srgbClr val="333333"/>
                </a:solidFill>
              </a:rPr>
              <a:t>• Sub-filter rewrites InfluxDB JS asset paths</a:t>
            </a:r>
          </a:p>
        </p:txBody>
      </p:sp>
      <p:sp>
        <p:nvSpPr>
          <p:cNvPr id="21" name="Rectangle 20"/>
          <p:cNvSpPr/>
          <p:nvPr/>
        </p:nvSpPr>
        <p:spPr>
          <a:xfrm>
            <a:off x="274320" y="3566160"/>
            <a:ext cx="3840480" cy="2331720"/>
          </a:xfrm>
          <a:prstGeom prst="rect">
            <a:avLst/>
          </a:prstGeom>
          <a:solidFill>
            <a:srgbClr val="F2F2F2"/>
          </a:solidFill>
          <a:ln w="25400">
            <a:solidFill>
              <a:srgbClr val="444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4320" y="3566160"/>
            <a:ext cx="3840480" cy="347472"/>
          </a:xfrm>
          <a:prstGeom prst="rect">
            <a:avLst/>
          </a:prstGeom>
          <a:solidFill>
            <a:srgbClr val="444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4048" y="3584448"/>
            <a:ext cx="3657600" cy="329184"/>
          </a:xfrm>
          <a:prstGeom prst="rect">
            <a:avLst/>
          </a:prstGeom>
          <a:noFill/>
        </p:spPr>
        <p:txBody>
          <a:bodyPr wrap="square">
            <a:spAutoFit/>
          </a:bodyPr>
          <a:lstStyle/>
          <a:p>
            <a:pPr algn="l"/>
            <a:r>
              <a:rPr sz="1300" b="1" i="0">
                <a:solidFill>
                  <a:srgbClr val="FFFFFF"/>
                </a:solidFill>
              </a:rPr>
              <a:t>system-manager
(Watchdog)</a:t>
            </a:r>
          </a:p>
        </p:txBody>
      </p:sp>
      <p:sp>
        <p:nvSpPr>
          <p:cNvPr id="24" name="TextBox 23"/>
          <p:cNvSpPr txBox="1"/>
          <p:nvPr/>
        </p:nvSpPr>
        <p:spPr>
          <a:xfrm>
            <a:off x="384048" y="3950208"/>
            <a:ext cx="3657600" cy="1874520"/>
          </a:xfrm>
          <a:prstGeom prst="rect">
            <a:avLst/>
          </a:prstGeom>
          <a:noFill/>
        </p:spPr>
        <p:txBody>
          <a:bodyPr wrap="square">
            <a:spAutoFit/>
          </a:bodyPr>
          <a:lstStyle/>
          <a:p>
            <a:r>
              <a:rPr sz="1300">
                <a:solidFill>
                  <a:srgbClr val="333333"/>
                </a:solidFill>
              </a:rPr>
              <a:t>• Runs every 30 s on host network</a:t>
            </a:r>
          </a:p>
          <a:p>
            <a:r>
              <a:rPr sz="1300">
                <a:solidFill>
                  <a:srgbClr val="333333"/>
                </a:solidFill>
              </a:rPr>
              <a:t>• Restarts HA on new BalenaOS release</a:t>
            </a:r>
          </a:p>
          <a:p>
            <a:r>
              <a:rPr sz="1300">
                <a:solidFill>
                  <a:srgbClr val="333333"/>
                </a:solidFill>
              </a:rPr>
              <a:t>• Reboots device if internet down &gt; 30 min</a:t>
            </a:r>
          </a:p>
          <a:p>
            <a:r>
              <a:rPr sz="1300">
                <a:solidFill>
                  <a:srgbClr val="333333"/>
                </a:solidFill>
              </a:rPr>
              <a:t>• Uses Balena Supervisor REST API</a:t>
            </a:r>
          </a:p>
          <a:p>
            <a:r>
              <a:rPr sz="1300">
                <a:solidFill>
                  <a:srgbClr val="333333"/>
                </a:solidFill>
              </a:rPr>
              <a:t>• iptables rules: Docker ↔ WiFi repeater</a:t>
            </a:r>
          </a:p>
        </p:txBody>
      </p:sp>
      <p:sp>
        <p:nvSpPr>
          <p:cNvPr id="25" name="Rectangle 24"/>
          <p:cNvSpPr/>
          <p:nvPr/>
        </p:nvSpPr>
        <p:spPr>
          <a:xfrm>
            <a:off x="4251960" y="3566160"/>
            <a:ext cx="3840480" cy="2331720"/>
          </a:xfrm>
          <a:prstGeom prst="rect">
            <a:avLst/>
          </a:prstGeom>
          <a:solidFill>
            <a:srgbClr val="F2F2F2"/>
          </a:solidFill>
          <a:ln w="25400">
            <a:solidFill>
              <a:srgbClr val="8B00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251960" y="3566160"/>
            <a:ext cx="3840480" cy="347472"/>
          </a:xfrm>
          <a:prstGeom prst="rect">
            <a:avLst/>
          </a:prstGeom>
          <a:solidFill>
            <a:srgbClr val="8B00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61688" y="3584448"/>
            <a:ext cx="3657600" cy="329184"/>
          </a:xfrm>
          <a:prstGeom prst="rect">
            <a:avLst/>
          </a:prstGeom>
          <a:noFill/>
        </p:spPr>
        <p:txBody>
          <a:bodyPr wrap="square">
            <a:spAutoFit/>
          </a:bodyPr>
          <a:lstStyle/>
          <a:p>
            <a:pPr algn="l"/>
            <a:r>
              <a:rPr sz="1300" b="1" i="0">
                <a:solidFill>
                  <a:srgbClr val="FFFFFF"/>
                </a:solidFill>
              </a:rPr>
              <a:t>Mosquitto MQTT</a:t>
            </a:r>
          </a:p>
        </p:txBody>
      </p:sp>
      <p:sp>
        <p:nvSpPr>
          <p:cNvPr id="28" name="TextBox 27"/>
          <p:cNvSpPr txBox="1"/>
          <p:nvPr/>
        </p:nvSpPr>
        <p:spPr>
          <a:xfrm>
            <a:off x="4361688" y="3950208"/>
            <a:ext cx="3657600" cy="1874520"/>
          </a:xfrm>
          <a:prstGeom prst="rect">
            <a:avLst/>
          </a:prstGeom>
          <a:noFill/>
        </p:spPr>
        <p:txBody>
          <a:bodyPr wrap="square">
            <a:spAutoFit/>
          </a:bodyPr>
          <a:lstStyle/>
          <a:p>
            <a:r>
              <a:rPr sz="1300">
                <a:solidFill>
                  <a:srgbClr val="333333"/>
                </a:solidFill>
              </a:rPr>
              <a:t>• Message broker (port 1883)</a:t>
            </a:r>
          </a:p>
          <a:p>
            <a:r>
              <a:rPr sz="1300">
                <a:solidFill>
                  <a:srgbClr val="333333"/>
                </a:solidFill>
              </a:rPr>
              <a:t>• Ready for Zigbee2MQTT alternative arch</a:t>
            </a:r>
          </a:p>
          <a:p>
            <a:r>
              <a:rPr sz="1300">
                <a:solidFill>
                  <a:srgbClr val="333333"/>
                </a:solidFill>
              </a:rPr>
              <a:t>• Retained messages → sensor state on restart</a:t>
            </a:r>
          </a:p>
          <a:p>
            <a:r>
              <a:rPr sz="1300">
                <a:solidFill>
                  <a:srgbClr val="333333"/>
                </a:solidFill>
              </a:rPr>
              <a:t>• Persistence to mosquitto.db volume</a:t>
            </a:r>
          </a:p>
          <a:p>
            <a:r>
              <a:rPr sz="1300">
                <a:solidFill>
                  <a:srgbClr val="333333"/>
                </a:solidFill>
              </a:rPr>
              <a:t>• Currently idle (ZHA deployment)</a:t>
            </a:r>
          </a:p>
        </p:txBody>
      </p:sp>
      <p:sp>
        <p:nvSpPr>
          <p:cNvPr id="29" name="Rectangle 28"/>
          <p:cNvSpPr/>
          <p:nvPr/>
        </p:nvSpPr>
        <p:spPr>
          <a:xfrm>
            <a:off x="8229600" y="3566160"/>
            <a:ext cx="3840480" cy="2331720"/>
          </a:xfrm>
          <a:prstGeom prst="rect">
            <a:avLst/>
          </a:prstGeom>
          <a:solidFill>
            <a:srgbClr val="F2F2F2"/>
          </a:solidFill>
          <a:ln w="25400">
            <a:solidFill>
              <a:srgbClr val="55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229600" y="3566160"/>
            <a:ext cx="3840480" cy="347472"/>
          </a:xfrm>
          <a:prstGeom prst="rect">
            <a:avLst/>
          </a:prstGeom>
          <a:solidFill>
            <a:srgbClr val="55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39328" y="3584448"/>
            <a:ext cx="3657600" cy="329184"/>
          </a:xfrm>
          <a:prstGeom prst="rect">
            <a:avLst/>
          </a:prstGeom>
          <a:noFill/>
        </p:spPr>
        <p:txBody>
          <a:bodyPr wrap="square">
            <a:spAutoFit/>
          </a:bodyPr>
          <a:lstStyle/>
          <a:p>
            <a:pPr algn="l"/>
            <a:r>
              <a:rPr sz="1300" b="1" i="0">
                <a:solidFill>
                  <a:srgbClr val="FFFFFF"/>
                </a:solidFill>
              </a:rPr>
              <a:t>led-status</a:t>
            </a:r>
          </a:p>
        </p:txBody>
      </p:sp>
      <p:sp>
        <p:nvSpPr>
          <p:cNvPr id="32" name="TextBox 31"/>
          <p:cNvSpPr txBox="1"/>
          <p:nvPr/>
        </p:nvSpPr>
        <p:spPr>
          <a:xfrm>
            <a:off x="8339328" y="3950208"/>
            <a:ext cx="3657600" cy="1874520"/>
          </a:xfrm>
          <a:prstGeom prst="rect">
            <a:avLst/>
          </a:prstGeom>
          <a:noFill/>
        </p:spPr>
        <p:txBody>
          <a:bodyPr wrap="square">
            <a:spAutoFit/>
          </a:bodyPr>
          <a:lstStyle/>
          <a:p>
            <a:r>
              <a:rPr sz="1300">
                <a:solidFill>
                  <a:srgbClr val="333333"/>
                </a:solidFill>
              </a:rPr>
              <a:t>• GPIO 17 → green LED (HA reachable?)</a:t>
            </a:r>
          </a:p>
          <a:p>
            <a:r>
              <a:rPr sz="1300">
                <a:solidFill>
                  <a:srgbClr val="333333"/>
                </a:solidFill>
              </a:rPr>
              <a:t>• GPIO 27 → blue LED (internet alive?)</a:t>
            </a:r>
          </a:p>
          <a:p>
            <a:r>
              <a:rPr sz="1300">
                <a:solidFill>
                  <a:srgbClr val="333333"/>
                </a:solidFill>
              </a:rPr>
              <a:t>• GPIO 22 → red LED (HA errors in log?)</a:t>
            </a:r>
          </a:p>
          <a:p>
            <a:r>
              <a:rPr sz="1300">
                <a:solidFill>
                  <a:srgbClr val="333333"/>
                </a:solidFill>
              </a:rPr>
              <a:t>• Pi 5 lgpio patch (chip=0)</a:t>
            </a:r>
          </a:p>
          <a:p>
            <a:r>
              <a:rPr sz="1300">
                <a:solidFill>
                  <a:srgbClr val="333333"/>
                </a:solidFill>
              </a:rPr>
              <a:t>• Polls every 2 seconds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11430000" cy="777240"/>
          </a:xfrm>
          <a:prstGeom prst="rect">
            <a:avLst/>
          </a:prstGeom>
          <a:noFill/>
        </p:spPr>
        <p:txBody>
          <a:bodyPr wrap="square">
            <a:spAutoFit/>
          </a:bodyPr>
          <a:lstStyle/>
          <a:p>
            <a:pPr algn="l"/>
            <a:r>
              <a:rPr sz="3200" b="1" i="0">
                <a:solidFill>
                  <a:srgbClr val="FFFFFF"/>
                </a:solidFill>
              </a:rPr>
              <a:t>Self-Healing &amp; Remote Management</a:t>
            </a:r>
          </a:p>
        </p:txBody>
      </p:sp>
      <p:sp>
        <p:nvSpPr>
          <p:cNvPr id="5" name="TextBox 4"/>
          <p:cNvSpPr txBox="1"/>
          <p:nvPr/>
        </p:nvSpPr>
        <p:spPr>
          <a:xfrm>
            <a:off x="365760" y="804672"/>
            <a:ext cx="11430000" cy="411480"/>
          </a:xfrm>
          <a:prstGeom prst="rect">
            <a:avLst/>
          </a:prstGeom>
          <a:noFill/>
        </p:spPr>
        <p:txBody>
          <a:bodyPr wrap="square">
            <a:spAutoFit/>
          </a:bodyPr>
          <a:lstStyle/>
          <a:p>
            <a:pPr algn="l"/>
            <a:r>
              <a:rPr sz="1600" b="0" i="0">
                <a:solidFill>
                  <a:srgbClr val="F0AB00"/>
                </a:solidFill>
              </a:rPr>
              <a:t>Zero-touch operation across distributed pilot deployments</a:t>
            </a:r>
          </a:p>
        </p:txBody>
      </p:sp>
      <p:sp>
        <p:nvSpPr>
          <p:cNvPr id="6" name="Rectangle 5"/>
          <p:cNvSpPr/>
          <p:nvPr/>
        </p:nvSpPr>
        <p:spPr>
          <a:xfrm>
            <a:off x="0" y="1325880"/>
            <a:ext cx="12188952" cy="36576"/>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83680"/>
            <a:ext cx="5486400" cy="274320"/>
          </a:xfrm>
          <a:prstGeom prst="rect">
            <a:avLst/>
          </a:prstGeom>
          <a:noFill/>
        </p:spPr>
        <p:txBody>
          <a:bodyPr wrap="square">
            <a:spAutoFit/>
          </a:bodyPr>
          <a:lstStyle/>
          <a:p>
            <a:pPr algn="l"/>
            <a:r>
              <a:rPr sz="1000" b="0" i="0">
                <a:solidFill>
                  <a:srgbClr val="FFFFFF"/>
                </a:solidFill>
              </a:rPr>
              <a:t>MTU SmartCORE HEMS</a:t>
            </a:r>
          </a:p>
        </p:txBody>
      </p:sp>
      <p:sp>
        <p:nvSpPr>
          <p:cNvPr id="9" name="TextBox 8"/>
          <p:cNvSpPr txBox="1"/>
          <p:nvPr/>
        </p:nvSpPr>
        <p:spPr>
          <a:xfrm>
            <a:off x="6400800" y="6583680"/>
            <a:ext cx="5486400" cy="274320"/>
          </a:xfrm>
          <a:prstGeom prst="rect">
            <a:avLst/>
          </a:prstGeom>
          <a:noFill/>
        </p:spPr>
        <p:txBody>
          <a:bodyPr wrap="square">
            <a:spAutoFit/>
          </a:bodyPr>
          <a:lstStyle/>
          <a:p>
            <a:pPr algn="r"/>
            <a:r>
              <a:rPr sz="1000" b="0" i="0">
                <a:solidFill>
                  <a:srgbClr val="F0AB00"/>
                </a:solidFill>
              </a:rPr>
              <a:t>Interreg NWE SmartCORE</a:t>
            </a:r>
          </a:p>
        </p:txBody>
      </p:sp>
      <p:sp>
        <p:nvSpPr>
          <p:cNvPr id="10" name="Rectangle 9"/>
          <p:cNvSpPr/>
          <p:nvPr/>
        </p:nvSpPr>
        <p:spPr>
          <a:xfrm>
            <a:off x="274320" y="1463040"/>
            <a:ext cx="5577840" cy="2148840"/>
          </a:xfrm>
          <a:prstGeom prst="rect">
            <a:avLst/>
          </a:prstGeom>
          <a:solidFill>
            <a:srgbClr val="F2F2F2"/>
          </a:solidFill>
          <a:ln w="254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4320" y="1463040"/>
            <a:ext cx="557784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481328"/>
            <a:ext cx="5394960" cy="329184"/>
          </a:xfrm>
          <a:prstGeom prst="rect">
            <a:avLst/>
          </a:prstGeom>
          <a:noFill/>
        </p:spPr>
        <p:txBody>
          <a:bodyPr wrap="square">
            <a:spAutoFit/>
          </a:bodyPr>
          <a:lstStyle/>
          <a:p>
            <a:pPr algn="l"/>
            <a:r>
              <a:rPr sz="1300" b="1" i="0">
                <a:solidFill>
                  <a:srgbClr val="FFFFFF"/>
                </a:solidFill>
              </a:rPr>
              <a:t>BalenaOS — OTA Updates</a:t>
            </a:r>
          </a:p>
        </p:txBody>
      </p:sp>
      <p:sp>
        <p:nvSpPr>
          <p:cNvPr id="13" name="TextBox 12"/>
          <p:cNvSpPr txBox="1"/>
          <p:nvPr/>
        </p:nvSpPr>
        <p:spPr>
          <a:xfrm>
            <a:off x="384048" y="1847088"/>
            <a:ext cx="5394960" cy="1691640"/>
          </a:xfrm>
          <a:prstGeom prst="rect">
            <a:avLst/>
          </a:prstGeom>
          <a:noFill/>
        </p:spPr>
        <p:txBody>
          <a:bodyPr wrap="square">
            <a:spAutoFit/>
          </a:bodyPr>
          <a:lstStyle/>
          <a:p>
            <a:r>
              <a:rPr sz="1300">
                <a:solidFill>
                  <a:srgbClr val="333333"/>
                </a:solidFill>
              </a:rPr>
              <a:t>Yocto-based container OS with Supervisor daemon</a:t>
            </a:r>
          </a:p>
          <a:p>
            <a:r>
              <a:rPr sz="1300">
                <a:solidFill>
                  <a:srgbClr val="333333"/>
                </a:solidFill>
              </a:rPr>
              <a:t>Push new Docker images from Balena Cloud → device auto-pulls</a:t>
            </a:r>
          </a:p>
          <a:p>
            <a:r>
              <a:rPr sz="1300">
                <a:solidFill>
                  <a:srgbClr val="333333"/>
                </a:solidFill>
              </a:rPr>
              <a:t>No SSH access required — fully managed via Balena dashboard</a:t>
            </a:r>
          </a:p>
          <a:p>
            <a:r>
              <a:rPr sz="1300">
                <a:solidFill>
                  <a:srgbClr val="333333"/>
                </a:solidFill>
              </a:rPr>
              <a:t>Balena App ID / Release ID tracked for graceful HA restart</a:t>
            </a:r>
          </a:p>
        </p:txBody>
      </p:sp>
      <p:sp>
        <p:nvSpPr>
          <p:cNvPr id="14" name="Rectangle 13"/>
          <p:cNvSpPr/>
          <p:nvPr/>
        </p:nvSpPr>
        <p:spPr>
          <a:xfrm>
            <a:off x="6035040" y="1463040"/>
            <a:ext cx="5852160" cy="2148840"/>
          </a:xfrm>
          <a:prstGeom prst="rect">
            <a:avLst/>
          </a:prstGeom>
          <a:solidFill>
            <a:srgbClr val="F2F2F2"/>
          </a:solidFill>
          <a:ln w="25400">
            <a:solidFill>
              <a:srgbClr val="444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35040" y="1463040"/>
            <a:ext cx="5852160" cy="347472"/>
          </a:xfrm>
          <a:prstGeom prst="rect">
            <a:avLst/>
          </a:prstGeom>
          <a:solidFill>
            <a:srgbClr val="444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44768" y="1481328"/>
            <a:ext cx="5669280" cy="329184"/>
          </a:xfrm>
          <a:prstGeom prst="rect">
            <a:avLst/>
          </a:prstGeom>
          <a:noFill/>
        </p:spPr>
        <p:txBody>
          <a:bodyPr wrap="square">
            <a:spAutoFit/>
          </a:bodyPr>
          <a:lstStyle/>
          <a:p>
            <a:pPr algn="l"/>
            <a:r>
              <a:rPr sz="1300" b="1" i="0">
                <a:solidFill>
                  <a:srgbClr val="FFFFFF"/>
                </a:solidFill>
              </a:rPr>
              <a:t>system-manager Watchdog (30 s loop)</a:t>
            </a:r>
          </a:p>
        </p:txBody>
      </p:sp>
      <p:sp>
        <p:nvSpPr>
          <p:cNvPr id="17" name="TextBox 16"/>
          <p:cNvSpPr txBox="1"/>
          <p:nvPr/>
        </p:nvSpPr>
        <p:spPr>
          <a:xfrm>
            <a:off x="6144768" y="1847088"/>
            <a:ext cx="5669280" cy="1691640"/>
          </a:xfrm>
          <a:prstGeom prst="rect">
            <a:avLst/>
          </a:prstGeom>
          <a:noFill/>
        </p:spPr>
        <p:txBody>
          <a:bodyPr wrap="square">
            <a:spAutoFit/>
          </a:bodyPr>
          <a:lstStyle/>
          <a:p>
            <a:r>
              <a:rPr sz="1300">
                <a:solidFill>
                  <a:srgbClr val="333333"/>
                </a:solidFill>
              </a:rPr>
              <a:t>1. Stops wifi-repeater after 10 min (bandwidth management)</a:t>
            </a:r>
          </a:p>
          <a:p>
            <a:r>
              <a:rPr sz="1300">
                <a:solidFill>
                  <a:srgbClr val="333333"/>
                </a:solidFill>
              </a:rPr>
              <a:t>2. Detects new Balena release → graceful HA restart (2 min grace)</a:t>
            </a:r>
          </a:p>
          <a:p>
            <a:r>
              <a:rPr sz="1300">
                <a:solidFill>
                  <a:srgbClr val="333333"/>
                </a:solidFill>
              </a:rPr>
              <a:t>3. Pings google.com — reboots device if down &gt; 30 min</a:t>
            </a:r>
          </a:p>
          <a:p>
            <a:r>
              <a:rPr sz="1300">
                <a:solidFill>
                  <a:srgbClr val="333333"/>
                </a:solidFill>
              </a:rPr>
              <a:t>4. Sets iptables rules on startup (Docker ↔ WiFi subnets)</a:t>
            </a:r>
          </a:p>
        </p:txBody>
      </p:sp>
      <p:sp>
        <p:nvSpPr>
          <p:cNvPr id="18" name="Rectangle 17"/>
          <p:cNvSpPr/>
          <p:nvPr/>
        </p:nvSpPr>
        <p:spPr>
          <a:xfrm>
            <a:off x="274320" y="3749039"/>
            <a:ext cx="5577840" cy="2148840"/>
          </a:xfrm>
          <a:prstGeom prst="rect">
            <a:avLst/>
          </a:prstGeom>
          <a:solidFill>
            <a:srgbClr val="F2F2F2"/>
          </a:solidFill>
          <a:ln w="25400">
            <a:solidFill>
              <a:srgbClr val="009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3749039"/>
            <a:ext cx="5577840" cy="347472"/>
          </a:xfrm>
          <a:prstGeom prst="rect">
            <a:avLst/>
          </a:prstGeom>
          <a:solidFill>
            <a:srgbClr val="009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4048" y="3767327"/>
            <a:ext cx="5394960" cy="329184"/>
          </a:xfrm>
          <a:prstGeom prst="rect">
            <a:avLst/>
          </a:prstGeom>
          <a:noFill/>
        </p:spPr>
        <p:txBody>
          <a:bodyPr wrap="square">
            <a:spAutoFit/>
          </a:bodyPr>
          <a:lstStyle/>
          <a:p>
            <a:pPr algn="l"/>
            <a:r>
              <a:rPr sz="1300" b="1" i="0">
                <a:solidFill>
                  <a:srgbClr val="FFFFFF"/>
                </a:solidFill>
              </a:rPr>
              <a:t>LED Status Indicators (Physical Feedback)</a:t>
            </a:r>
          </a:p>
        </p:txBody>
      </p:sp>
      <p:sp>
        <p:nvSpPr>
          <p:cNvPr id="21" name="TextBox 20"/>
          <p:cNvSpPr txBox="1"/>
          <p:nvPr/>
        </p:nvSpPr>
        <p:spPr>
          <a:xfrm>
            <a:off x="384048" y="4133087"/>
            <a:ext cx="5394960" cy="1691640"/>
          </a:xfrm>
          <a:prstGeom prst="rect">
            <a:avLst/>
          </a:prstGeom>
          <a:noFill/>
        </p:spPr>
        <p:txBody>
          <a:bodyPr wrap="square">
            <a:spAutoFit/>
          </a:bodyPr>
          <a:lstStyle/>
          <a:p>
            <a:r>
              <a:rPr sz="1300">
                <a:solidFill>
                  <a:srgbClr val="333333"/>
                </a:solidFill>
              </a:rPr>
              <a:t>🟢 GPIO 17 — Home Assistant reachable (internal ping)</a:t>
            </a:r>
          </a:p>
          <a:p>
            <a:r>
              <a:rPr sz="1300">
                <a:solidFill>
                  <a:srgbClr val="333333"/>
                </a:solidFill>
              </a:rPr>
              <a:t>🔵 GPIO 27 — Internet connectivity (8.8.8.8 ping)</a:t>
            </a:r>
          </a:p>
          <a:p>
            <a:r>
              <a:rPr sz="1300">
                <a:solidFill>
                  <a:srgbClr val="333333"/>
                </a:solidFill>
              </a:rPr>
              <a:t>🔴 GPIO 22 — Error state (scans HA log for ERROR keyword)</a:t>
            </a:r>
          </a:p>
          <a:p>
            <a:r>
              <a:rPr sz="1300">
                <a:solidFill>
                  <a:srgbClr val="333333"/>
                </a:solidFill>
              </a:rPr>
              <a:t>Allows non-technical householders to see system health at a glance</a:t>
            </a:r>
          </a:p>
        </p:txBody>
      </p:sp>
      <p:sp>
        <p:nvSpPr>
          <p:cNvPr id="22" name="Rectangle 21"/>
          <p:cNvSpPr/>
          <p:nvPr/>
        </p:nvSpPr>
        <p:spPr>
          <a:xfrm>
            <a:off x="6035040" y="3749039"/>
            <a:ext cx="5852160" cy="2148840"/>
          </a:xfrm>
          <a:prstGeom prst="rect">
            <a:avLst/>
          </a:prstGeom>
          <a:solidFill>
            <a:srgbClr val="F2F2F2"/>
          </a:solidFill>
          <a:ln w="25400">
            <a:solidFill>
              <a:srgbClr val="F0A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035040" y="3749039"/>
            <a:ext cx="5852160" cy="347472"/>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44768" y="3767327"/>
            <a:ext cx="5669280" cy="329184"/>
          </a:xfrm>
          <a:prstGeom prst="rect">
            <a:avLst/>
          </a:prstGeom>
          <a:noFill/>
        </p:spPr>
        <p:txBody>
          <a:bodyPr wrap="square">
            <a:spAutoFit/>
          </a:bodyPr>
          <a:lstStyle/>
          <a:p>
            <a:pPr algn="l"/>
            <a:r>
              <a:rPr sz="1300" b="1" i="0">
                <a:solidFill>
                  <a:srgbClr val="FFFFFF"/>
                </a:solidFill>
              </a:rPr>
              <a:t>WiFi Onboarding — wifi-connect</a:t>
            </a:r>
          </a:p>
        </p:txBody>
      </p:sp>
      <p:sp>
        <p:nvSpPr>
          <p:cNvPr id="25" name="TextBox 24"/>
          <p:cNvSpPr txBox="1"/>
          <p:nvPr/>
        </p:nvSpPr>
        <p:spPr>
          <a:xfrm>
            <a:off x="6144768" y="4133087"/>
            <a:ext cx="5669280" cy="1691640"/>
          </a:xfrm>
          <a:prstGeom prst="rect">
            <a:avLst/>
          </a:prstGeom>
          <a:noFill/>
        </p:spPr>
        <p:txBody>
          <a:bodyPr wrap="square">
            <a:spAutoFit/>
          </a:bodyPr>
          <a:lstStyle/>
          <a:p>
            <a:r>
              <a:rPr sz="1300">
                <a:solidFill>
                  <a:srgbClr val="333333"/>
                </a:solidFill>
              </a:rPr>
              <a:t>On first boot (or lost WiFi): launches captive portal</a:t>
            </a:r>
          </a:p>
          <a:p>
            <a:r>
              <a:rPr sz="1300">
                <a:solidFill>
                  <a:srgbClr val="333333"/>
                </a:solidFill>
              </a:rPr>
              <a:t>Householder connects phone → selects home WiFi → enters password</a:t>
            </a:r>
          </a:p>
          <a:p>
            <a:r>
              <a:rPr sz="1300">
                <a:solidFill>
                  <a:srgbClr val="333333"/>
                </a:solidFill>
              </a:rPr>
              <a:t>NetworkManager configures WiFi via D-Bus on host</a:t>
            </a:r>
          </a:p>
          <a:p>
            <a:r>
              <a:rPr sz="1300">
                <a:solidFill>
                  <a:srgbClr val="333333"/>
                </a:solidFill>
              </a:rPr>
              <a:t>No LAN cable or technical knowledge required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11430000" cy="777240"/>
          </a:xfrm>
          <a:prstGeom prst="rect">
            <a:avLst/>
          </a:prstGeom>
          <a:noFill/>
        </p:spPr>
        <p:txBody>
          <a:bodyPr wrap="square">
            <a:spAutoFit/>
          </a:bodyPr>
          <a:lstStyle/>
          <a:p>
            <a:pPr algn="l"/>
            <a:r>
              <a:rPr sz="3200" b="1" i="0">
                <a:solidFill>
                  <a:srgbClr val="FFFFFF"/>
                </a:solidFill>
              </a:rPr>
              <a:t>Extensibility &amp; Future Work</a:t>
            </a:r>
          </a:p>
        </p:txBody>
      </p:sp>
      <p:sp>
        <p:nvSpPr>
          <p:cNvPr id="5" name="TextBox 4"/>
          <p:cNvSpPr txBox="1"/>
          <p:nvPr/>
        </p:nvSpPr>
        <p:spPr>
          <a:xfrm>
            <a:off x="365760" y="804672"/>
            <a:ext cx="11430000" cy="411480"/>
          </a:xfrm>
          <a:prstGeom prst="rect">
            <a:avLst/>
          </a:prstGeom>
          <a:noFill/>
        </p:spPr>
        <p:txBody>
          <a:bodyPr wrap="square">
            <a:spAutoFit/>
          </a:bodyPr>
          <a:lstStyle/>
          <a:p>
            <a:pPr algn="l"/>
            <a:r>
              <a:rPr sz="1600" b="0" i="0">
                <a:solidFill>
                  <a:srgbClr val="F0AB00"/>
                </a:solidFill>
              </a:rPr>
              <a:t>The HEMS box is designed to grow with research requirements</a:t>
            </a:r>
          </a:p>
        </p:txBody>
      </p:sp>
      <p:sp>
        <p:nvSpPr>
          <p:cNvPr id="6" name="Rectangle 5"/>
          <p:cNvSpPr/>
          <p:nvPr/>
        </p:nvSpPr>
        <p:spPr>
          <a:xfrm>
            <a:off x="0" y="1325880"/>
            <a:ext cx="12188952" cy="36576"/>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83680"/>
            <a:ext cx="5486400" cy="274320"/>
          </a:xfrm>
          <a:prstGeom prst="rect">
            <a:avLst/>
          </a:prstGeom>
          <a:noFill/>
        </p:spPr>
        <p:txBody>
          <a:bodyPr wrap="square">
            <a:spAutoFit/>
          </a:bodyPr>
          <a:lstStyle/>
          <a:p>
            <a:pPr algn="l"/>
            <a:r>
              <a:rPr sz="1000" b="0" i="0">
                <a:solidFill>
                  <a:srgbClr val="FFFFFF"/>
                </a:solidFill>
              </a:rPr>
              <a:t>MTU SmartCORE HEMS</a:t>
            </a:r>
          </a:p>
        </p:txBody>
      </p:sp>
      <p:sp>
        <p:nvSpPr>
          <p:cNvPr id="9" name="TextBox 8"/>
          <p:cNvSpPr txBox="1"/>
          <p:nvPr/>
        </p:nvSpPr>
        <p:spPr>
          <a:xfrm>
            <a:off x="6400800" y="6583680"/>
            <a:ext cx="5486400" cy="274320"/>
          </a:xfrm>
          <a:prstGeom prst="rect">
            <a:avLst/>
          </a:prstGeom>
          <a:noFill/>
        </p:spPr>
        <p:txBody>
          <a:bodyPr wrap="square">
            <a:spAutoFit/>
          </a:bodyPr>
          <a:lstStyle/>
          <a:p>
            <a:pPr algn="r"/>
            <a:r>
              <a:rPr sz="1000" b="0" i="0">
                <a:solidFill>
                  <a:srgbClr val="F0AB00"/>
                </a:solidFill>
              </a:rPr>
              <a:t>Interreg NWE SmartCORE</a:t>
            </a:r>
          </a:p>
        </p:txBody>
      </p:sp>
      <p:sp>
        <p:nvSpPr>
          <p:cNvPr id="10" name="Rectangle 9"/>
          <p:cNvSpPr/>
          <p:nvPr/>
        </p:nvSpPr>
        <p:spPr>
          <a:xfrm>
            <a:off x="274320" y="1097280"/>
            <a:ext cx="3749039" cy="2194560"/>
          </a:xfrm>
          <a:prstGeom prst="rect">
            <a:avLst/>
          </a:prstGeom>
          <a:solidFill>
            <a:srgbClr val="F2F2F2"/>
          </a:solidFill>
          <a:ln w="254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4320" y="1097280"/>
            <a:ext cx="3749039" cy="34747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115568"/>
            <a:ext cx="3566159" cy="329184"/>
          </a:xfrm>
          <a:prstGeom prst="rect">
            <a:avLst/>
          </a:prstGeom>
          <a:noFill/>
        </p:spPr>
        <p:txBody>
          <a:bodyPr wrap="square">
            <a:spAutoFit/>
          </a:bodyPr>
          <a:lstStyle/>
          <a:p>
            <a:pPr algn="l"/>
            <a:r>
              <a:rPr sz="1300" b="1" i="0">
                <a:solidFill>
                  <a:srgbClr val="FFFFFF"/>
                </a:solidFill>
              </a:rPr>
              <a:t>Alternative: Zigbee2MQTT</a:t>
            </a:r>
          </a:p>
        </p:txBody>
      </p:sp>
      <p:sp>
        <p:nvSpPr>
          <p:cNvPr id="13" name="TextBox 12"/>
          <p:cNvSpPr txBox="1"/>
          <p:nvPr/>
        </p:nvSpPr>
        <p:spPr>
          <a:xfrm>
            <a:off x="384048" y="1481328"/>
            <a:ext cx="3566159" cy="1737360"/>
          </a:xfrm>
          <a:prstGeom prst="rect">
            <a:avLst/>
          </a:prstGeom>
          <a:noFill/>
        </p:spPr>
        <p:txBody>
          <a:bodyPr wrap="square">
            <a:spAutoFit/>
          </a:bodyPr>
          <a:lstStyle/>
          <a:p>
            <a:r>
              <a:rPr sz="1300">
                <a:solidFill>
                  <a:srgbClr val="333333"/>
                </a:solidFill>
              </a:rPr>
              <a:t>Swap ZHA for Zigbee2MQTT container</a:t>
            </a:r>
          </a:p>
          <a:p>
            <a:r>
              <a:rPr sz="1300">
                <a:solidFill>
                  <a:srgbClr val="333333"/>
                </a:solidFill>
              </a:rPr>
              <a:t>All data routed through MQTT broker</a:t>
            </a:r>
          </a:p>
          <a:p>
            <a:r>
              <a:rPr sz="1300">
                <a:solidFill>
                  <a:srgbClr val="333333"/>
                </a:solidFill>
              </a:rPr>
              <a:t>Enables multi-subscriber architecture</a:t>
            </a:r>
          </a:p>
          <a:p>
            <a:r>
              <a:rPr sz="1300">
                <a:solidFill>
                  <a:srgbClr val="333333"/>
                </a:solidFill>
              </a:rPr>
              <a:t>→ Edge ML, alerting, custom exporters</a:t>
            </a:r>
          </a:p>
          <a:p>
            <a:r>
              <a:rPr sz="1300">
                <a:solidFill>
                  <a:srgbClr val="333333"/>
                </a:solidFill>
              </a:rPr>
              <a:t>MQTT Discovery → HA auto-creates entities</a:t>
            </a:r>
          </a:p>
        </p:txBody>
      </p:sp>
      <p:sp>
        <p:nvSpPr>
          <p:cNvPr id="14" name="Rectangle 13"/>
          <p:cNvSpPr/>
          <p:nvPr/>
        </p:nvSpPr>
        <p:spPr>
          <a:xfrm>
            <a:off x="4206239" y="1097280"/>
            <a:ext cx="3749039" cy="2194560"/>
          </a:xfrm>
          <a:prstGeom prst="rect">
            <a:avLst/>
          </a:prstGeom>
          <a:solidFill>
            <a:srgbClr val="F2F2F2"/>
          </a:solidFill>
          <a:ln w="254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06239" y="1097280"/>
            <a:ext cx="3749039"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15967" y="1115568"/>
            <a:ext cx="3566159" cy="329184"/>
          </a:xfrm>
          <a:prstGeom prst="rect">
            <a:avLst/>
          </a:prstGeom>
          <a:noFill/>
        </p:spPr>
        <p:txBody>
          <a:bodyPr wrap="square">
            <a:spAutoFit/>
          </a:bodyPr>
          <a:lstStyle/>
          <a:p>
            <a:pPr algn="l"/>
            <a:r>
              <a:rPr sz="1300" b="1" i="0">
                <a:solidFill>
                  <a:srgbClr val="FFFFFF"/>
                </a:solidFill>
              </a:rPr>
              <a:t>Mobile Access — Tailscale VPN</a:t>
            </a:r>
          </a:p>
        </p:txBody>
      </p:sp>
      <p:sp>
        <p:nvSpPr>
          <p:cNvPr id="17" name="TextBox 16"/>
          <p:cNvSpPr txBox="1"/>
          <p:nvPr/>
        </p:nvSpPr>
        <p:spPr>
          <a:xfrm>
            <a:off x="4315967" y="1481328"/>
            <a:ext cx="3566159" cy="1737360"/>
          </a:xfrm>
          <a:prstGeom prst="rect">
            <a:avLst/>
          </a:prstGeom>
          <a:noFill/>
        </p:spPr>
        <p:txBody>
          <a:bodyPr wrap="square">
            <a:spAutoFit/>
          </a:bodyPr>
          <a:lstStyle/>
          <a:p>
            <a:r>
              <a:rPr sz="1300">
                <a:solidFill>
                  <a:srgbClr val="333333"/>
                </a:solidFill>
              </a:rPr>
              <a:t>Add tailscale container (WireGuard VPN)</a:t>
            </a:r>
          </a:p>
          <a:p>
            <a:r>
              <a:rPr sz="1300">
                <a:solidFill>
                  <a:srgbClr val="333333"/>
                </a:solidFill>
              </a:rPr>
              <a:t>Researcher/admin accesses dashboard remotely</a:t>
            </a:r>
          </a:p>
          <a:p>
            <a:r>
              <a:rPr sz="1300">
                <a:solidFill>
                  <a:srgbClr val="333333"/>
                </a:solidFill>
              </a:rPr>
              <a:t>Peer-to-peer — no cloud server needed</a:t>
            </a:r>
          </a:p>
          <a:p>
            <a:r>
              <a:rPr sz="1300">
                <a:solidFill>
                  <a:srgbClr val="333333"/>
                </a:solidFill>
              </a:rPr>
              <a:t>Stable Tailscale IP survives dynamic WAN IP</a:t>
            </a:r>
          </a:p>
          <a:p>
            <a:r>
              <a:rPr sz="1300">
                <a:solidFill>
                  <a:srgbClr val="333333"/>
                </a:solidFill>
              </a:rPr>
              <a:t>TS_AUTH_KEY via Balena env var (never in repo)</a:t>
            </a:r>
          </a:p>
        </p:txBody>
      </p:sp>
      <p:sp>
        <p:nvSpPr>
          <p:cNvPr id="18" name="Rectangle 17"/>
          <p:cNvSpPr/>
          <p:nvPr/>
        </p:nvSpPr>
        <p:spPr>
          <a:xfrm>
            <a:off x="8138158" y="1097280"/>
            <a:ext cx="3749039" cy="2194560"/>
          </a:xfrm>
          <a:prstGeom prst="rect">
            <a:avLst/>
          </a:prstGeom>
          <a:solidFill>
            <a:srgbClr val="F2F2F2"/>
          </a:solidFill>
          <a:ln w="25400">
            <a:solidFill>
              <a:srgbClr val="009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38158" y="1097280"/>
            <a:ext cx="3749039" cy="347472"/>
          </a:xfrm>
          <a:prstGeom prst="rect">
            <a:avLst/>
          </a:prstGeom>
          <a:solidFill>
            <a:srgbClr val="009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47886" y="1115568"/>
            <a:ext cx="3566159" cy="329184"/>
          </a:xfrm>
          <a:prstGeom prst="rect">
            <a:avLst/>
          </a:prstGeom>
          <a:noFill/>
        </p:spPr>
        <p:txBody>
          <a:bodyPr wrap="square">
            <a:spAutoFit/>
          </a:bodyPr>
          <a:lstStyle/>
          <a:p>
            <a:pPr algn="l"/>
            <a:r>
              <a:rPr sz="1300" b="1" i="0">
                <a:solidFill>
                  <a:srgbClr val="FFFFFF"/>
                </a:solidFill>
              </a:rPr>
              <a:t>Mobile Access — Cloudflare Tunnel</a:t>
            </a:r>
          </a:p>
        </p:txBody>
      </p:sp>
      <p:sp>
        <p:nvSpPr>
          <p:cNvPr id="21" name="TextBox 20"/>
          <p:cNvSpPr txBox="1"/>
          <p:nvPr/>
        </p:nvSpPr>
        <p:spPr>
          <a:xfrm>
            <a:off x="8247886" y="1481328"/>
            <a:ext cx="3566159" cy="1737360"/>
          </a:xfrm>
          <a:prstGeom prst="rect">
            <a:avLst/>
          </a:prstGeom>
          <a:noFill/>
        </p:spPr>
        <p:txBody>
          <a:bodyPr wrap="square">
            <a:spAutoFit/>
          </a:bodyPr>
          <a:lstStyle/>
          <a:p>
            <a:r>
              <a:rPr sz="1300">
                <a:solidFill>
                  <a:srgbClr val="333333"/>
                </a:solidFill>
              </a:rPr>
              <a:t>Add cloudflared container</a:t>
            </a:r>
          </a:p>
          <a:p>
            <a:r>
              <a:rPr sz="1300">
                <a:solidFill>
                  <a:srgbClr val="333333"/>
                </a:solidFill>
              </a:rPr>
              <a:t>4 outbound HTTPS connections to Cloudflare</a:t>
            </a:r>
          </a:p>
          <a:p>
            <a:r>
              <a:rPr sz="1300">
                <a:solidFill>
                  <a:srgbClr val="333333"/>
                </a:solidFill>
              </a:rPr>
              <a:t>Public HTTPS URL: hems.yourdomain.com</a:t>
            </a:r>
          </a:p>
          <a:p>
            <a:r>
              <a:rPr sz="1300">
                <a:solidFill>
                  <a:srgbClr val="333333"/>
                </a:solidFill>
              </a:rPr>
              <a:t>No port forwarding or router changes</a:t>
            </a:r>
          </a:p>
          <a:p>
            <a:r>
              <a:rPr sz="1300">
                <a:solidFill>
                  <a:srgbClr val="333333"/>
                </a:solidFill>
              </a:rPr>
              <a:t>Cloudflare Access for pre-auth layer (free)</a:t>
            </a:r>
          </a:p>
        </p:txBody>
      </p:sp>
      <p:sp>
        <p:nvSpPr>
          <p:cNvPr id="22" name="Rectangle 21"/>
          <p:cNvSpPr/>
          <p:nvPr/>
        </p:nvSpPr>
        <p:spPr>
          <a:xfrm>
            <a:off x="274320" y="3429000"/>
            <a:ext cx="3749039" cy="2194560"/>
          </a:xfrm>
          <a:prstGeom prst="rect">
            <a:avLst/>
          </a:prstGeom>
          <a:solidFill>
            <a:srgbClr val="F2F2F2"/>
          </a:solidFill>
          <a:ln w="25400">
            <a:solidFill>
              <a:srgbClr val="F0A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74320" y="3429000"/>
            <a:ext cx="3749039" cy="347472"/>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84048" y="3447288"/>
            <a:ext cx="3566159" cy="329184"/>
          </a:xfrm>
          <a:prstGeom prst="rect">
            <a:avLst/>
          </a:prstGeom>
          <a:noFill/>
        </p:spPr>
        <p:txBody>
          <a:bodyPr wrap="square">
            <a:spAutoFit/>
          </a:bodyPr>
          <a:lstStyle/>
          <a:p>
            <a:pPr algn="l"/>
            <a:r>
              <a:rPr sz="1300" b="1" i="0">
                <a:solidFill>
                  <a:srgbClr val="FFFFFF"/>
                </a:solidFill>
              </a:rPr>
              <a:t>Additional Sensors</a:t>
            </a:r>
          </a:p>
        </p:txBody>
      </p:sp>
      <p:sp>
        <p:nvSpPr>
          <p:cNvPr id="25" name="TextBox 24"/>
          <p:cNvSpPr txBox="1"/>
          <p:nvPr/>
        </p:nvSpPr>
        <p:spPr>
          <a:xfrm>
            <a:off x="384048" y="3813048"/>
            <a:ext cx="3566159" cy="1737360"/>
          </a:xfrm>
          <a:prstGeom prst="rect">
            <a:avLst/>
          </a:prstGeom>
          <a:noFill/>
        </p:spPr>
        <p:txBody>
          <a:bodyPr wrap="square">
            <a:spAutoFit/>
          </a:bodyPr>
          <a:lstStyle/>
          <a:p>
            <a:r>
              <a:rPr sz="1300">
                <a:solidFill>
                  <a:srgbClr val="333333"/>
                </a:solidFill>
              </a:rPr>
              <a:t>Any Zigbee sensor pairs via ZHA/Z2M</a:t>
            </a:r>
          </a:p>
          <a:p>
            <a:r>
              <a:rPr sz="1300">
                <a:solidFill>
                  <a:srgbClr val="333333"/>
                </a:solidFill>
              </a:rPr>
              <a:t>Temperature, humidity, occupancy, gas</a:t>
            </a:r>
          </a:p>
          <a:p>
            <a:r>
              <a:rPr sz="1300">
                <a:solidFill>
                  <a:srgbClr val="333333"/>
                </a:solidFill>
              </a:rPr>
              <a:t>EV charger monitoring (eesmart-d2l path)</a:t>
            </a:r>
          </a:p>
          <a:p>
            <a:r>
              <a:rPr sz="1300">
                <a:solidFill>
                  <a:srgbClr val="333333"/>
                </a:solidFill>
              </a:rPr>
              <a:t>Clamp-on CT sensors via ESPHome/WiFi</a:t>
            </a:r>
          </a:p>
          <a:p>
            <a:r>
              <a:rPr sz="1300">
                <a:solidFill>
                  <a:srgbClr val="333333"/>
                </a:solidFill>
              </a:rPr>
              <a:t>Solar PV integration (planned)</a:t>
            </a:r>
          </a:p>
        </p:txBody>
      </p:sp>
      <p:sp>
        <p:nvSpPr>
          <p:cNvPr id="26" name="Rectangle 25"/>
          <p:cNvSpPr/>
          <p:nvPr/>
        </p:nvSpPr>
        <p:spPr>
          <a:xfrm>
            <a:off x="4206239" y="3429000"/>
            <a:ext cx="3749039" cy="2194560"/>
          </a:xfrm>
          <a:prstGeom prst="rect">
            <a:avLst/>
          </a:prstGeom>
          <a:solidFill>
            <a:srgbClr val="F2F2F2"/>
          </a:solidFill>
          <a:ln w="25400">
            <a:solidFill>
              <a:srgbClr val="444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206239" y="3429000"/>
            <a:ext cx="3749039" cy="347472"/>
          </a:xfrm>
          <a:prstGeom prst="rect">
            <a:avLst/>
          </a:prstGeom>
          <a:solidFill>
            <a:srgbClr val="444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15967" y="3447288"/>
            <a:ext cx="3566159" cy="329184"/>
          </a:xfrm>
          <a:prstGeom prst="rect">
            <a:avLst/>
          </a:prstGeom>
          <a:noFill/>
        </p:spPr>
        <p:txBody>
          <a:bodyPr wrap="square">
            <a:spAutoFit/>
          </a:bodyPr>
          <a:lstStyle/>
          <a:p>
            <a:pPr algn="l"/>
            <a:r>
              <a:rPr sz="1300" b="1" i="0">
                <a:solidFill>
                  <a:srgbClr val="FFFFFF"/>
                </a:solidFill>
              </a:rPr>
              <a:t>Data Export &amp; Integration</a:t>
            </a:r>
          </a:p>
        </p:txBody>
      </p:sp>
      <p:sp>
        <p:nvSpPr>
          <p:cNvPr id="29" name="TextBox 28"/>
          <p:cNvSpPr txBox="1"/>
          <p:nvPr/>
        </p:nvSpPr>
        <p:spPr>
          <a:xfrm>
            <a:off x="4315967" y="3813048"/>
            <a:ext cx="3566159" cy="1737360"/>
          </a:xfrm>
          <a:prstGeom prst="rect">
            <a:avLst/>
          </a:prstGeom>
          <a:noFill/>
        </p:spPr>
        <p:txBody>
          <a:bodyPr wrap="square">
            <a:spAutoFit/>
          </a:bodyPr>
          <a:lstStyle/>
          <a:p>
            <a:r>
              <a:rPr sz="1300">
                <a:solidFill>
                  <a:srgbClr val="333333"/>
                </a:solidFill>
              </a:rPr>
              <a:t>InfluxDB REST API → SmartCORE EU platform</a:t>
            </a:r>
          </a:p>
          <a:p>
            <a:r>
              <a:rPr sz="1300">
                <a:solidFill>
                  <a:srgbClr val="333333"/>
                </a:solidFill>
              </a:rPr>
              <a:t>Export to CSV / Parquet for research</a:t>
            </a:r>
          </a:p>
          <a:p>
            <a:r>
              <a:rPr sz="1300">
                <a:solidFill>
                  <a:srgbClr val="333333"/>
                </a:solidFill>
              </a:rPr>
              <a:t>Grafana compatible (Flux queries)</a:t>
            </a:r>
          </a:p>
          <a:p>
            <a:r>
              <a:rPr sz="1300">
                <a:solidFill>
                  <a:srgbClr val="333333"/>
                </a:solidFill>
              </a:rPr>
              <a:t>MQTT → Node-RED for custom pipelines</a:t>
            </a:r>
          </a:p>
          <a:p>
            <a:r>
              <a:rPr sz="1300">
                <a:solidFill>
                  <a:srgbClr val="333333"/>
                </a:solidFill>
              </a:rPr>
              <a:t>REST hook → external ML inference</a:t>
            </a:r>
          </a:p>
        </p:txBody>
      </p:sp>
      <p:sp>
        <p:nvSpPr>
          <p:cNvPr id="30" name="Rectangle 29"/>
          <p:cNvSpPr/>
          <p:nvPr/>
        </p:nvSpPr>
        <p:spPr>
          <a:xfrm>
            <a:off x="8138158" y="3429000"/>
            <a:ext cx="3749039" cy="2194560"/>
          </a:xfrm>
          <a:prstGeom prst="rect">
            <a:avLst/>
          </a:prstGeom>
          <a:solidFill>
            <a:srgbClr val="F2F2F2"/>
          </a:solidFill>
          <a:ln w="25400">
            <a:solidFill>
              <a:srgbClr val="AA3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138158" y="3429000"/>
            <a:ext cx="3749039" cy="347472"/>
          </a:xfrm>
          <a:prstGeom prst="rect">
            <a:avLst/>
          </a:prstGeom>
          <a:solidFill>
            <a:srgbClr val="AA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47886" y="3447288"/>
            <a:ext cx="3566159" cy="329184"/>
          </a:xfrm>
          <a:prstGeom prst="rect">
            <a:avLst/>
          </a:prstGeom>
          <a:noFill/>
        </p:spPr>
        <p:txBody>
          <a:bodyPr wrap="square">
            <a:spAutoFit/>
          </a:bodyPr>
          <a:lstStyle/>
          <a:p>
            <a:pPr algn="l"/>
            <a:r>
              <a:rPr sz="1300" b="1" i="0">
                <a:solidFill>
                  <a:srgbClr val="FFFFFF"/>
                </a:solidFill>
              </a:rPr>
              <a:t>Known Gaps to Resolve</a:t>
            </a:r>
          </a:p>
        </p:txBody>
      </p:sp>
      <p:sp>
        <p:nvSpPr>
          <p:cNvPr id="33" name="TextBox 32"/>
          <p:cNvSpPr txBox="1"/>
          <p:nvPr/>
        </p:nvSpPr>
        <p:spPr>
          <a:xfrm>
            <a:off x="8247886" y="3813048"/>
            <a:ext cx="3566159" cy="1737360"/>
          </a:xfrm>
          <a:prstGeom prst="rect">
            <a:avLst/>
          </a:prstGeom>
          <a:noFill/>
        </p:spPr>
        <p:txBody>
          <a:bodyPr wrap="square">
            <a:spAutoFit/>
          </a:bodyPr>
          <a:lstStyle/>
          <a:p>
            <a:r>
              <a:rPr sz="1300">
                <a:solidFill>
                  <a:srgbClr val="333333"/>
                </a:solidFill>
              </a:rPr>
              <a:t>eesmart-d2l: TCP proxy in Nginx but no container</a:t>
            </a:r>
          </a:p>
          <a:p>
            <a:r>
              <a:rPr sz="1300">
                <a:solidFill>
                  <a:srgbClr val="333333"/>
                </a:solidFill>
              </a:rPr>
              <a:t>No TLS on Nginx (plain HTTP on LAN only)</a:t>
            </a:r>
          </a:p>
          <a:p>
            <a:r>
              <a:rPr sz="1300">
                <a:solidFill>
                  <a:srgbClr val="333333"/>
                </a:solidFill>
              </a:rPr>
              <a:t>MQTT allow_anonymous (harden for production)</a:t>
            </a:r>
          </a:p>
          <a:p>
            <a:r>
              <a:rPr sz="1300">
                <a:solidFill>
                  <a:srgbClr val="333333"/>
                </a:solidFill>
              </a:rPr>
              <a:t>template_sensors/ not in git (on-device only)</a:t>
            </a:r>
          </a:p>
          <a:p>
            <a:r>
              <a:rPr sz="1300">
                <a:solidFill>
                  <a:srgbClr val="333333"/>
                </a:solidFill>
              </a:rPr>
              <a:t>Pilot home deployment tooling — in progress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11430000" cy="777240"/>
          </a:xfrm>
          <a:prstGeom prst="rect">
            <a:avLst/>
          </a:prstGeom>
          <a:noFill/>
        </p:spPr>
        <p:txBody>
          <a:bodyPr wrap="square">
            <a:spAutoFit/>
          </a:bodyPr>
          <a:lstStyle/>
          <a:p>
            <a:pPr algn="l"/>
            <a:r>
              <a:rPr sz="3200" b="1" i="0">
                <a:solidFill>
                  <a:srgbClr val="FFFFFF"/>
                </a:solidFill>
              </a:rPr>
              <a:t>MTU's Research Contribution</a:t>
            </a:r>
          </a:p>
        </p:txBody>
      </p:sp>
      <p:sp>
        <p:nvSpPr>
          <p:cNvPr id="5" name="TextBox 4"/>
          <p:cNvSpPr txBox="1"/>
          <p:nvPr/>
        </p:nvSpPr>
        <p:spPr>
          <a:xfrm>
            <a:off x="365760" y="804672"/>
            <a:ext cx="11430000" cy="411480"/>
          </a:xfrm>
          <a:prstGeom prst="rect">
            <a:avLst/>
          </a:prstGeom>
          <a:noFill/>
        </p:spPr>
        <p:txBody>
          <a:bodyPr wrap="square">
            <a:spAutoFit/>
          </a:bodyPr>
          <a:lstStyle/>
          <a:p>
            <a:pPr algn="l"/>
            <a:r>
              <a:rPr sz="1600" b="0" i="0">
                <a:solidFill>
                  <a:srgbClr val="F0AB00"/>
                </a:solidFill>
              </a:rPr>
              <a:t>What we bring to SmartCORE NWE</a:t>
            </a:r>
          </a:p>
        </p:txBody>
      </p:sp>
      <p:sp>
        <p:nvSpPr>
          <p:cNvPr id="6" name="Rectangle 5"/>
          <p:cNvSpPr/>
          <p:nvPr/>
        </p:nvSpPr>
        <p:spPr>
          <a:xfrm>
            <a:off x="0" y="1325880"/>
            <a:ext cx="12188952" cy="36576"/>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83680"/>
            <a:ext cx="5486400" cy="274320"/>
          </a:xfrm>
          <a:prstGeom prst="rect">
            <a:avLst/>
          </a:prstGeom>
          <a:noFill/>
        </p:spPr>
        <p:txBody>
          <a:bodyPr wrap="square">
            <a:spAutoFit/>
          </a:bodyPr>
          <a:lstStyle/>
          <a:p>
            <a:pPr algn="l"/>
            <a:r>
              <a:rPr sz="1000" b="0" i="0">
                <a:solidFill>
                  <a:srgbClr val="FFFFFF"/>
                </a:solidFill>
              </a:rPr>
              <a:t>MTU SmartCORE HEMS</a:t>
            </a:r>
          </a:p>
        </p:txBody>
      </p:sp>
      <p:sp>
        <p:nvSpPr>
          <p:cNvPr id="9" name="TextBox 8"/>
          <p:cNvSpPr txBox="1"/>
          <p:nvPr/>
        </p:nvSpPr>
        <p:spPr>
          <a:xfrm>
            <a:off x="6400800" y="6583680"/>
            <a:ext cx="5486400" cy="274320"/>
          </a:xfrm>
          <a:prstGeom prst="rect">
            <a:avLst/>
          </a:prstGeom>
          <a:noFill/>
        </p:spPr>
        <p:txBody>
          <a:bodyPr wrap="square">
            <a:spAutoFit/>
          </a:bodyPr>
          <a:lstStyle/>
          <a:p>
            <a:pPr algn="r"/>
            <a:r>
              <a:rPr sz="1000" b="0" i="0">
                <a:solidFill>
                  <a:srgbClr val="F0AB00"/>
                </a:solidFill>
              </a:rPr>
              <a:t>Interreg NWE SmartCORE</a:t>
            </a:r>
          </a:p>
        </p:txBody>
      </p:sp>
      <p:sp>
        <p:nvSpPr>
          <p:cNvPr id="10" name="TextBox 9"/>
          <p:cNvSpPr txBox="1"/>
          <p:nvPr/>
        </p:nvSpPr>
        <p:spPr>
          <a:xfrm>
            <a:off x="292608" y="1517904"/>
            <a:ext cx="5303520" cy="5394960"/>
          </a:xfrm>
          <a:prstGeom prst="rect">
            <a:avLst/>
          </a:prstGeom>
          <a:noFill/>
        </p:spPr>
        <p:txBody>
          <a:bodyPr wrap="square">
            <a:spAutoFit/>
          </a:bodyPr>
          <a:lstStyle/>
          <a:p>
            <a:pPr algn="l"/>
            <a:r>
              <a:rPr sz="1500" dirty="0">
                <a:solidFill>
                  <a:srgbClr val="333333"/>
                </a:solidFill>
              </a:rPr>
              <a:t>What MTU Has Built</a:t>
            </a:r>
          </a:p>
          <a:p>
            <a:pPr algn="l"/>
            <a:endParaRPr sz="1500" dirty="0">
              <a:solidFill>
                <a:srgbClr val="333333"/>
              </a:solidFill>
            </a:endParaRPr>
          </a:p>
          <a:p>
            <a:pPr algn="l"/>
            <a:r>
              <a:rPr sz="1500" dirty="0">
                <a:solidFill>
                  <a:srgbClr val="333333"/>
                </a:solidFill>
              </a:rPr>
              <a:t>• Full open-source HEMS software stack</a:t>
            </a:r>
          </a:p>
          <a:p>
            <a:pPr lvl="1" algn="l"/>
            <a:r>
              <a:rPr sz="1300" dirty="0">
                <a:solidFill>
                  <a:srgbClr val="333333"/>
                </a:solidFill>
              </a:rPr>
              <a:t>– </a:t>
            </a:r>
            <a:r>
              <a:rPr sz="1300" dirty="0" err="1">
                <a:solidFill>
                  <a:srgbClr val="333333"/>
                </a:solidFill>
              </a:rPr>
              <a:t>Containerised</a:t>
            </a:r>
            <a:r>
              <a:rPr sz="1300" dirty="0">
                <a:solidFill>
                  <a:srgbClr val="333333"/>
                </a:solidFill>
              </a:rPr>
              <a:t>, reproducible, version-controlled</a:t>
            </a:r>
          </a:p>
          <a:p>
            <a:pPr lvl="1" algn="l"/>
            <a:r>
              <a:rPr sz="1300" dirty="0">
                <a:solidFill>
                  <a:srgbClr val="333333"/>
                </a:solidFill>
              </a:rPr>
              <a:t>– Deployable from a single docker-</a:t>
            </a:r>
            <a:r>
              <a:rPr sz="1300" dirty="0" err="1">
                <a:solidFill>
                  <a:srgbClr val="333333"/>
                </a:solidFill>
              </a:rPr>
              <a:t>compose.yml</a:t>
            </a:r>
            <a:endParaRPr sz="1300" dirty="0">
              <a:solidFill>
                <a:srgbClr val="333333"/>
              </a:solidFill>
            </a:endParaRPr>
          </a:p>
          <a:p>
            <a:pPr algn="l"/>
            <a:endParaRPr sz="1300" dirty="0">
              <a:solidFill>
                <a:srgbClr val="333333"/>
              </a:solidFill>
            </a:endParaRPr>
          </a:p>
          <a:p>
            <a:pPr algn="l"/>
            <a:r>
              <a:rPr sz="1500" dirty="0">
                <a:solidFill>
                  <a:srgbClr val="333333"/>
                </a:solidFill>
              </a:rPr>
              <a:t>• Raspberry Pi 5 validated deployment</a:t>
            </a:r>
          </a:p>
          <a:p>
            <a:pPr lvl="1" algn="l"/>
            <a:r>
              <a:rPr sz="1300" dirty="0">
                <a:solidFill>
                  <a:srgbClr val="333333"/>
                </a:solidFill>
              </a:rPr>
              <a:t>– Pi 5 GPIO </a:t>
            </a:r>
            <a:r>
              <a:rPr sz="1300" dirty="0" err="1">
                <a:solidFill>
                  <a:srgbClr val="333333"/>
                </a:solidFill>
              </a:rPr>
              <a:t>lgpio</a:t>
            </a:r>
            <a:r>
              <a:rPr sz="1300" dirty="0">
                <a:solidFill>
                  <a:srgbClr val="333333"/>
                </a:solidFill>
              </a:rPr>
              <a:t> patch for led-status</a:t>
            </a:r>
          </a:p>
          <a:p>
            <a:pPr lvl="1" algn="l"/>
            <a:r>
              <a:rPr sz="1300" dirty="0">
                <a:solidFill>
                  <a:srgbClr val="333333"/>
                </a:solidFill>
              </a:rPr>
              <a:t>– aarch64/arm64 Docker image selection</a:t>
            </a:r>
          </a:p>
          <a:p>
            <a:pPr algn="l"/>
            <a:endParaRPr sz="1300" dirty="0">
              <a:solidFill>
                <a:srgbClr val="333333"/>
              </a:solidFill>
            </a:endParaRPr>
          </a:p>
          <a:p>
            <a:pPr algn="l"/>
            <a:r>
              <a:rPr sz="1500" dirty="0">
                <a:solidFill>
                  <a:srgbClr val="333333"/>
                </a:solidFill>
              </a:rPr>
              <a:t>• Self-healing watchdog architecture</a:t>
            </a:r>
          </a:p>
          <a:p>
            <a:pPr lvl="1" algn="l"/>
            <a:r>
              <a:rPr sz="1300" dirty="0">
                <a:solidFill>
                  <a:srgbClr val="333333"/>
                </a:solidFill>
              </a:rPr>
              <a:t>– Balena Supervisor API integration</a:t>
            </a:r>
          </a:p>
          <a:p>
            <a:pPr lvl="1" algn="l"/>
            <a:r>
              <a:rPr sz="1300" dirty="0">
                <a:solidFill>
                  <a:srgbClr val="333333"/>
                </a:solidFill>
              </a:rPr>
              <a:t>– Graceful HA restart on new firmware</a:t>
            </a:r>
          </a:p>
          <a:p>
            <a:pPr algn="l"/>
            <a:endParaRPr sz="1300" dirty="0">
              <a:solidFill>
                <a:srgbClr val="333333"/>
              </a:solidFill>
            </a:endParaRPr>
          </a:p>
          <a:p>
            <a:pPr algn="l"/>
            <a:r>
              <a:rPr sz="1500" dirty="0">
                <a:solidFill>
                  <a:srgbClr val="333333"/>
                </a:solidFill>
              </a:rPr>
              <a:t>• Technical documentation &amp; architecture reference</a:t>
            </a:r>
          </a:p>
          <a:p>
            <a:pPr lvl="1" algn="l"/>
            <a:r>
              <a:rPr sz="1300" dirty="0">
                <a:solidFill>
                  <a:srgbClr val="333333"/>
                </a:solidFill>
              </a:rPr>
              <a:t>– ARCHITECTURE.md, COMPONENTS.md</a:t>
            </a:r>
          </a:p>
          <a:p>
            <a:pPr lvl="1" algn="l"/>
            <a:r>
              <a:rPr sz="1300" dirty="0">
                <a:solidFill>
                  <a:srgbClr val="333333"/>
                </a:solidFill>
              </a:rPr>
              <a:t>– MQTT &amp; Mobile Access reference</a:t>
            </a:r>
          </a:p>
          <a:p>
            <a:pPr lvl="1" algn="l"/>
            <a:r>
              <a:rPr sz="1300" dirty="0">
                <a:solidFill>
                  <a:srgbClr val="333333"/>
                </a:solidFill>
              </a:rPr>
              <a:t>– </a:t>
            </a:r>
            <a:r>
              <a:rPr sz="1300" dirty="0" err="1">
                <a:solidFill>
                  <a:srgbClr val="333333"/>
                </a:solidFill>
              </a:rPr>
              <a:t>PlantUML</a:t>
            </a:r>
            <a:r>
              <a:rPr sz="1300" dirty="0">
                <a:solidFill>
                  <a:srgbClr val="333333"/>
                </a:solidFill>
              </a:rPr>
              <a:t> system diagrams</a:t>
            </a:r>
          </a:p>
        </p:txBody>
      </p:sp>
      <p:sp>
        <p:nvSpPr>
          <p:cNvPr id="11" name="Rectangle 10"/>
          <p:cNvSpPr/>
          <p:nvPr/>
        </p:nvSpPr>
        <p:spPr>
          <a:xfrm>
            <a:off x="5853398" y="1353312"/>
            <a:ext cx="5943600" cy="1920240"/>
          </a:xfrm>
          <a:prstGeom prst="rect">
            <a:avLst/>
          </a:prstGeom>
          <a:solidFill>
            <a:srgbClr val="F2F2F2"/>
          </a:solidFill>
          <a:ln w="25400">
            <a:solidFill>
              <a:srgbClr val="009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852160" y="1359431"/>
            <a:ext cx="5943600" cy="347472"/>
          </a:xfrm>
          <a:prstGeom prst="rect">
            <a:avLst/>
          </a:prstGeom>
          <a:solidFill>
            <a:srgbClr val="009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p:cNvSpPr txBox="1"/>
          <p:nvPr/>
        </p:nvSpPr>
        <p:spPr>
          <a:xfrm>
            <a:off x="5943600" y="1371600"/>
            <a:ext cx="5760720" cy="329184"/>
          </a:xfrm>
          <a:prstGeom prst="rect">
            <a:avLst/>
          </a:prstGeom>
          <a:noFill/>
        </p:spPr>
        <p:txBody>
          <a:bodyPr wrap="square">
            <a:spAutoFit/>
          </a:bodyPr>
          <a:lstStyle/>
          <a:p>
            <a:pPr algn="l"/>
            <a:r>
              <a:rPr sz="1300" b="1" i="0" dirty="0">
                <a:solidFill>
                  <a:srgbClr val="FFFFFF"/>
                </a:solidFill>
              </a:rPr>
              <a:t>Impact for SmartCORE Partners</a:t>
            </a:r>
          </a:p>
        </p:txBody>
      </p:sp>
      <p:sp>
        <p:nvSpPr>
          <p:cNvPr id="14" name="TextBox 13"/>
          <p:cNvSpPr txBox="1"/>
          <p:nvPr/>
        </p:nvSpPr>
        <p:spPr>
          <a:xfrm>
            <a:off x="5961888" y="1572768"/>
            <a:ext cx="5760720" cy="1463040"/>
          </a:xfrm>
          <a:prstGeom prst="rect">
            <a:avLst/>
          </a:prstGeom>
          <a:noFill/>
        </p:spPr>
        <p:txBody>
          <a:bodyPr wrap="square">
            <a:spAutoFit/>
          </a:bodyPr>
          <a:lstStyle/>
          <a:p>
            <a:r>
              <a:rPr sz="1300" dirty="0">
                <a:solidFill>
                  <a:srgbClr val="333333"/>
                </a:solidFill>
              </a:rPr>
              <a:t>Any partner can clone repo &amp; deploy</a:t>
            </a:r>
          </a:p>
          <a:p>
            <a:r>
              <a:rPr sz="1300" dirty="0">
                <a:solidFill>
                  <a:srgbClr val="333333"/>
                </a:solidFill>
              </a:rPr>
              <a:t>No proprietary hardware lock-in</a:t>
            </a:r>
          </a:p>
          <a:p>
            <a:r>
              <a:rPr sz="1300" dirty="0">
                <a:solidFill>
                  <a:srgbClr val="333333"/>
                </a:solidFill>
              </a:rPr>
              <a:t>OTA updates mean pilot homes update silently</a:t>
            </a:r>
          </a:p>
          <a:p>
            <a:r>
              <a:rPr sz="1300" dirty="0">
                <a:solidFill>
                  <a:srgbClr val="333333"/>
                </a:solidFill>
              </a:rPr>
              <a:t>Full data access — no vendor API restrictions</a:t>
            </a:r>
          </a:p>
          <a:p>
            <a:r>
              <a:rPr sz="1300" dirty="0">
                <a:solidFill>
                  <a:srgbClr val="333333"/>
                </a:solidFill>
              </a:rPr>
              <a:t>Adapts to local smart meter standards</a:t>
            </a:r>
          </a:p>
        </p:txBody>
      </p:sp>
      <p:sp>
        <p:nvSpPr>
          <p:cNvPr id="15" name="Rectangle 14"/>
          <p:cNvSpPr/>
          <p:nvPr/>
        </p:nvSpPr>
        <p:spPr>
          <a:xfrm>
            <a:off x="5852160" y="3291840"/>
            <a:ext cx="5943600" cy="1920240"/>
          </a:xfrm>
          <a:prstGeom prst="rect">
            <a:avLst/>
          </a:prstGeom>
          <a:solidFill>
            <a:srgbClr val="F2F2F2"/>
          </a:solidFill>
          <a:ln w="254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852160" y="3291840"/>
            <a:ext cx="594360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61888" y="3310128"/>
            <a:ext cx="5760720" cy="329184"/>
          </a:xfrm>
          <a:prstGeom prst="rect">
            <a:avLst/>
          </a:prstGeom>
          <a:noFill/>
        </p:spPr>
        <p:txBody>
          <a:bodyPr wrap="square">
            <a:spAutoFit/>
          </a:bodyPr>
          <a:lstStyle/>
          <a:p>
            <a:pPr algn="l"/>
            <a:r>
              <a:rPr sz="1300" b="1" i="0">
                <a:solidFill>
                  <a:srgbClr val="FFFFFF"/>
                </a:solidFill>
              </a:rPr>
              <a:t>Research Outputs (Planned)</a:t>
            </a:r>
          </a:p>
        </p:txBody>
      </p:sp>
      <p:sp>
        <p:nvSpPr>
          <p:cNvPr id="18" name="TextBox 17"/>
          <p:cNvSpPr txBox="1"/>
          <p:nvPr/>
        </p:nvSpPr>
        <p:spPr>
          <a:xfrm>
            <a:off x="5961888" y="3675888"/>
            <a:ext cx="5760720" cy="1463040"/>
          </a:xfrm>
          <a:prstGeom prst="rect">
            <a:avLst/>
          </a:prstGeom>
          <a:noFill/>
        </p:spPr>
        <p:txBody>
          <a:bodyPr wrap="square">
            <a:spAutoFit/>
          </a:bodyPr>
          <a:lstStyle/>
          <a:p>
            <a:r>
              <a:rPr sz="1300">
                <a:solidFill>
                  <a:srgbClr val="333333"/>
                </a:solidFill>
              </a:rPr>
              <a:t>Peer-reviewed publication on HEMS architecture</a:t>
            </a:r>
          </a:p>
          <a:p>
            <a:r>
              <a:rPr sz="1300">
                <a:solidFill>
                  <a:srgbClr val="333333"/>
                </a:solidFill>
              </a:rPr>
              <a:t>Open dataset from pilot homes (anonymised)</a:t>
            </a:r>
          </a:p>
          <a:p>
            <a:r>
              <a:rPr sz="1300">
                <a:solidFill>
                  <a:srgbClr val="333333"/>
                </a:solidFill>
              </a:rPr>
              <a:t>Comparison: ZHA vs Zigbee2MQTT performance</a:t>
            </a:r>
          </a:p>
          <a:p>
            <a:r>
              <a:rPr sz="1300">
                <a:solidFill>
                  <a:srgbClr val="333333"/>
                </a:solidFill>
              </a:rPr>
              <a:t>Energy baseline per household profile</a:t>
            </a:r>
          </a:p>
          <a:p>
            <a:r>
              <a:rPr sz="1300">
                <a:solidFill>
                  <a:srgbClr val="333333"/>
                </a:solidFill>
              </a:rPr>
              <a:t>Integration template for EU SmartCORE platform</a:t>
            </a:r>
          </a:p>
        </p:txBody>
      </p:sp>
      <p:sp>
        <p:nvSpPr>
          <p:cNvPr id="19" name="Rectangle 18"/>
          <p:cNvSpPr/>
          <p:nvPr/>
        </p:nvSpPr>
        <p:spPr>
          <a:xfrm>
            <a:off x="5852160" y="5297022"/>
            <a:ext cx="5943600" cy="1213505"/>
          </a:xfrm>
          <a:prstGeom prst="rect">
            <a:avLst/>
          </a:prstGeom>
          <a:solidFill>
            <a:srgbClr val="F2F2F2"/>
          </a:solidFill>
          <a:ln w="25400">
            <a:solidFill>
              <a:srgbClr val="F0A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870448" y="5288773"/>
            <a:ext cx="5943600" cy="347472"/>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0" y="5285232"/>
            <a:ext cx="5760720" cy="329184"/>
          </a:xfrm>
          <a:prstGeom prst="rect">
            <a:avLst/>
          </a:prstGeom>
          <a:noFill/>
        </p:spPr>
        <p:txBody>
          <a:bodyPr wrap="square">
            <a:spAutoFit/>
          </a:bodyPr>
          <a:lstStyle/>
          <a:p>
            <a:pPr algn="l"/>
            <a:r>
              <a:rPr sz="1300" b="1" i="0" dirty="0">
                <a:solidFill>
                  <a:srgbClr val="FFFFFF"/>
                </a:solidFill>
              </a:rPr>
              <a:t>Technology Readiness</a:t>
            </a:r>
          </a:p>
        </p:txBody>
      </p:sp>
      <p:sp>
        <p:nvSpPr>
          <p:cNvPr id="22" name="TextBox 21"/>
          <p:cNvSpPr txBox="1"/>
          <p:nvPr/>
        </p:nvSpPr>
        <p:spPr>
          <a:xfrm>
            <a:off x="5961888" y="5620604"/>
            <a:ext cx="5760720" cy="640080"/>
          </a:xfrm>
          <a:prstGeom prst="rect">
            <a:avLst/>
          </a:prstGeom>
          <a:noFill/>
        </p:spPr>
        <p:txBody>
          <a:bodyPr wrap="square">
            <a:spAutoFit/>
          </a:bodyPr>
          <a:lstStyle/>
          <a:p>
            <a:r>
              <a:rPr sz="1300" dirty="0">
                <a:solidFill>
                  <a:srgbClr val="333333"/>
                </a:solidFill>
              </a:rPr>
              <a:t>TRL 4 → 5 transition (lab → pilot validated)</a:t>
            </a:r>
          </a:p>
          <a:p>
            <a:r>
              <a:rPr sz="1300" dirty="0">
                <a:solidFill>
                  <a:srgbClr val="333333"/>
                </a:solidFill>
              </a:rPr>
              <a:t>Core stack functional on Pi 5 hardware</a:t>
            </a:r>
          </a:p>
          <a:p>
            <a:r>
              <a:rPr sz="1300" dirty="0">
                <a:solidFill>
                  <a:srgbClr val="333333"/>
                </a:solidFill>
              </a:rPr>
              <a:t>Sensor integration confirmed end-to-end</a:t>
            </a:r>
          </a:p>
          <a:p>
            <a:r>
              <a:rPr sz="1300" dirty="0">
                <a:solidFill>
                  <a:srgbClr val="333333"/>
                </a:solidFill>
              </a:rPr>
              <a:t>Pilot deployment tooling in progress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11430000" cy="777240"/>
          </a:xfrm>
          <a:prstGeom prst="rect">
            <a:avLst/>
          </a:prstGeom>
          <a:noFill/>
        </p:spPr>
        <p:txBody>
          <a:bodyPr wrap="square">
            <a:spAutoFit/>
          </a:bodyPr>
          <a:lstStyle/>
          <a:p>
            <a:pPr algn="l"/>
            <a:r>
              <a:rPr sz="3200" b="1" i="0">
                <a:solidFill>
                  <a:srgbClr val="FFFFFF"/>
                </a:solidFill>
              </a:rPr>
              <a:t>Current Status &amp; Roadmap</a:t>
            </a:r>
          </a:p>
        </p:txBody>
      </p:sp>
      <p:sp>
        <p:nvSpPr>
          <p:cNvPr id="5" name="TextBox 4"/>
          <p:cNvSpPr txBox="1"/>
          <p:nvPr/>
        </p:nvSpPr>
        <p:spPr>
          <a:xfrm>
            <a:off x="365760" y="804672"/>
            <a:ext cx="11430000" cy="411480"/>
          </a:xfrm>
          <a:prstGeom prst="rect">
            <a:avLst/>
          </a:prstGeom>
          <a:noFill/>
        </p:spPr>
        <p:txBody>
          <a:bodyPr wrap="square">
            <a:spAutoFit/>
          </a:bodyPr>
          <a:lstStyle/>
          <a:p>
            <a:pPr algn="l"/>
            <a:r>
              <a:rPr sz="1600" b="0" i="0">
                <a:solidFill>
                  <a:srgbClr val="F0AB00"/>
                </a:solidFill>
              </a:rPr>
              <a:t>Early prototype → pilot deployment</a:t>
            </a:r>
          </a:p>
        </p:txBody>
      </p:sp>
      <p:sp>
        <p:nvSpPr>
          <p:cNvPr id="6" name="Rectangle 5"/>
          <p:cNvSpPr/>
          <p:nvPr/>
        </p:nvSpPr>
        <p:spPr>
          <a:xfrm>
            <a:off x="0" y="1325880"/>
            <a:ext cx="12188952" cy="36576"/>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83680"/>
            <a:ext cx="12188952" cy="274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83680"/>
            <a:ext cx="5486400" cy="274320"/>
          </a:xfrm>
          <a:prstGeom prst="rect">
            <a:avLst/>
          </a:prstGeom>
          <a:noFill/>
        </p:spPr>
        <p:txBody>
          <a:bodyPr wrap="square">
            <a:spAutoFit/>
          </a:bodyPr>
          <a:lstStyle/>
          <a:p>
            <a:pPr algn="l"/>
            <a:r>
              <a:rPr sz="1000" b="0" i="0">
                <a:solidFill>
                  <a:srgbClr val="FFFFFF"/>
                </a:solidFill>
              </a:rPr>
              <a:t>MTU SmartCORE HEMS</a:t>
            </a:r>
          </a:p>
        </p:txBody>
      </p:sp>
      <p:sp>
        <p:nvSpPr>
          <p:cNvPr id="9" name="TextBox 8"/>
          <p:cNvSpPr txBox="1"/>
          <p:nvPr/>
        </p:nvSpPr>
        <p:spPr>
          <a:xfrm>
            <a:off x="6400800" y="6583680"/>
            <a:ext cx="5486400" cy="274320"/>
          </a:xfrm>
          <a:prstGeom prst="rect">
            <a:avLst/>
          </a:prstGeom>
          <a:noFill/>
        </p:spPr>
        <p:txBody>
          <a:bodyPr wrap="square">
            <a:spAutoFit/>
          </a:bodyPr>
          <a:lstStyle/>
          <a:p>
            <a:pPr algn="r"/>
            <a:r>
              <a:rPr sz="1000" b="0" i="0">
                <a:solidFill>
                  <a:srgbClr val="F0AB00"/>
                </a:solidFill>
              </a:rPr>
              <a:t>Interreg NWE SmartCORE</a:t>
            </a:r>
          </a:p>
        </p:txBody>
      </p:sp>
      <p:sp>
        <p:nvSpPr>
          <p:cNvPr id="10" name="Rectangle 9"/>
          <p:cNvSpPr/>
          <p:nvPr/>
        </p:nvSpPr>
        <p:spPr>
          <a:xfrm>
            <a:off x="274320" y="1463040"/>
            <a:ext cx="1828800" cy="1280160"/>
          </a:xfrm>
          <a:prstGeom prst="rect">
            <a:avLst/>
          </a:prstGeom>
          <a:solidFill>
            <a:srgbClr val="009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9184" y="1508760"/>
            <a:ext cx="1737360" cy="475488"/>
          </a:xfrm>
          <a:prstGeom prst="rect">
            <a:avLst/>
          </a:prstGeom>
          <a:noFill/>
        </p:spPr>
        <p:txBody>
          <a:bodyPr wrap="square">
            <a:spAutoFit/>
          </a:bodyPr>
          <a:lstStyle/>
          <a:p>
            <a:pPr algn="ctr"/>
            <a:r>
              <a:rPr sz="1300" b="1" i="0">
                <a:solidFill>
                  <a:srgbClr val="FFFFFF"/>
                </a:solidFill>
              </a:rPr>
              <a:t>✓ Stack Running</a:t>
            </a:r>
          </a:p>
        </p:txBody>
      </p:sp>
      <p:sp>
        <p:nvSpPr>
          <p:cNvPr id="12" name="TextBox 11"/>
          <p:cNvSpPr txBox="1"/>
          <p:nvPr/>
        </p:nvSpPr>
        <p:spPr>
          <a:xfrm>
            <a:off x="329184" y="1993392"/>
            <a:ext cx="1737360" cy="685800"/>
          </a:xfrm>
          <a:prstGeom prst="rect">
            <a:avLst/>
          </a:prstGeom>
          <a:noFill/>
        </p:spPr>
        <p:txBody>
          <a:bodyPr wrap="square">
            <a:spAutoFit/>
          </a:bodyPr>
          <a:lstStyle/>
          <a:p>
            <a:pPr algn="ctr"/>
            <a:r>
              <a:rPr sz="1100" b="0" i="0">
                <a:solidFill>
                  <a:srgbClr val="DDFFDD"/>
                </a:solidFill>
              </a:rPr>
              <a:t>All 8 containers
operational on Pi 5</a:t>
            </a:r>
          </a:p>
        </p:txBody>
      </p:sp>
      <p:sp>
        <p:nvSpPr>
          <p:cNvPr id="13" name="Rectangle 12"/>
          <p:cNvSpPr/>
          <p:nvPr/>
        </p:nvSpPr>
        <p:spPr>
          <a:xfrm>
            <a:off x="2212848" y="1463040"/>
            <a:ext cx="1828800" cy="1280160"/>
          </a:xfrm>
          <a:prstGeom prst="rect">
            <a:avLst/>
          </a:prstGeom>
          <a:solidFill>
            <a:srgbClr val="009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67712" y="1508760"/>
            <a:ext cx="1737360" cy="475488"/>
          </a:xfrm>
          <a:prstGeom prst="rect">
            <a:avLst/>
          </a:prstGeom>
          <a:noFill/>
        </p:spPr>
        <p:txBody>
          <a:bodyPr wrap="square">
            <a:spAutoFit/>
          </a:bodyPr>
          <a:lstStyle/>
          <a:p>
            <a:pPr algn="ctr"/>
            <a:r>
              <a:rPr sz="1300" b="1" i="0">
                <a:solidFill>
                  <a:srgbClr val="FFFFFF"/>
                </a:solidFill>
              </a:rPr>
              <a:t>✓ Sensor Data</a:t>
            </a:r>
          </a:p>
        </p:txBody>
      </p:sp>
      <p:sp>
        <p:nvSpPr>
          <p:cNvPr id="15" name="TextBox 14"/>
          <p:cNvSpPr txBox="1"/>
          <p:nvPr/>
        </p:nvSpPr>
        <p:spPr>
          <a:xfrm>
            <a:off x="2267712" y="1993392"/>
            <a:ext cx="1737360" cy="685800"/>
          </a:xfrm>
          <a:prstGeom prst="rect">
            <a:avLst/>
          </a:prstGeom>
          <a:noFill/>
        </p:spPr>
        <p:txBody>
          <a:bodyPr wrap="square">
            <a:spAutoFit/>
          </a:bodyPr>
          <a:lstStyle/>
          <a:p>
            <a:pPr algn="ctr"/>
            <a:r>
              <a:rPr sz="1100" b="0" i="0">
                <a:solidFill>
                  <a:srgbClr val="DDFFDD"/>
                </a:solidFill>
              </a:rPr>
              <a:t>Frient → InfluxDB
end-to-end confirmed</a:t>
            </a:r>
          </a:p>
        </p:txBody>
      </p:sp>
      <p:sp>
        <p:nvSpPr>
          <p:cNvPr id="16" name="Rectangle 15"/>
          <p:cNvSpPr/>
          <p:nvPr/>
        </p:nvSpPr>
        <p:spPr>
          <a:xfrm>
            <a:off x="4151376" y="1463040"/>
            <a:ext cx="1828800" cy="1280160"/>
          </a:xfrm>
          <a:prstGeom prst="rect">
            <a:avLst/>
          </a:prstGeom>
          <a:solidFill>
            <a:srgbClr val="009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06240" y="1508760"/>
            <a:ext cx="1737360" cy="475488"/>
          </a:xfrm>
          <a:prstGeom prst="rect">
            <a:avLst/>
          </a:prstGeom>
          <a:noFill/>
        </p:spPr>
        <p:txBody>
          <a:bodyPr wrap="square">
            <a:spAutoFit/>
          </a:bodyPr>
          <a:lstStyle/>
          <a:p>
            <a:pPr algn="ctr"/>
            <a:r>
              <a:rPr sz="1300" b="1" i="0">
                <a:solidFill>
                  <a:srgbClr val="FFFFFF"/>
                </a:solidFill>
              </a:rPr>
              <a:t>✓ OTA Updates</a:t>
            </a:r>
          </a:p>
        </p:txBody>
      </p:sp>
      <p:sp>
        <p:nvSpPr>
          <p:cNvPr id="18" name="TextBox 17"/>
          <p:cNvSpPr txBox="1"/>
          <p:nvPr/>
        </p:nvSpPr>
        <p:spPr>
          <a:xfrm>
            <a:off x="4206240" y="1993392"/>
            <a:ext cx="1737360" cy="685800"/>
          </a:xfrm>
          <a:prstGeom prst="rect">
            <a:avLst/>
          </a:prstGeom>
          <a:noFill/>
        </p:spPr>
        <p:txBody>
          <a:bodyPr wrap="square">
            <a:spAutoFit/>
          </a:bodyPr>
          <a:lstStyle/>
          <a:p>
            <a:pPr algn="ctr"/>
            <a:r>
              <a:rPr sz="1100" b="0" i="0">
                <a:solidFill>
                  <a:srgbClr val="DDFFDD"/>
                </a:solidFill>
              </a:rPr>
              <a:t>BalenaOS push
validated in lab</a:t>
            </a:r>
          </a:p>
        </p:txBody>
      </p:sp>
      <p:sp>
        <p:nvSpPr>
          <p:cNvPr id="19" name="Rectangle 18"/>
          <p:cNvSpPr/>
          <p:nvPr/>
        </p:nvSpPr>
        <p:spPr>
          <a:xfrm>
            <a:off x="6089904" y="1463040"/>
            <a:ext cx="1828800" cy="1280160"/>
          </a:xfrm>
          <a:prstGeom prst="rect">
            <a:avLst/>
          </a:prstGeom>
          <a:solidFill>
            <a:srgbClr val="009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44768" y="1508760"/>
            <a:ext cx="1737360" cy="475488"/>
          </a:xfrm>
          <a:prstGeom prst="rect">
            <a:avLst/>
          </a:prstGeom>
          <a:noFill/>
        </p:spPr>
        <p:txBody>
          <a:bodyPr wrap="square">
            <a:spAutoFit/>
          </a:bodyPr>
          <a:lstStyle/>
          <a:p>
            <a:pPr algn="ctr"/>
            <a:r>
              <a:rPr sz="1300" b="1" i="0">
                <a:solidFill>
                  <a:srgbClr val="FFFFFF"/>
                </a:solidFill>
              </a:rPr>
              <a:t>✓ Self-Healing</a:t>
            </a:r>
          </a:p>
        </p:txBody>
      </p:sp>
      <p:sp>
        <p:nvSpPr>
          <p:cNvPr id="21" name="TextBox 20"/>
          <p:cNvSpPr txBox="1"/>
          <p:nvPr/>
        </p:nvSpPr>
        <p:spPr>
          <a:xfrm>
            <a:off x="6144768" y="1993392"/>
            <a:ext cx="1737360" cy="685800"/>
          </a:xfrm>
          <a:prstGeom prst="rect">
            <a:avLst/>
          </a:prstGeom>
          <a:noFill/>
        </p:spPr>
        <p:txBody>
          <a:bodyPr wrap="square">
            <a:spAutoFit/>
          </a:bodyPr>
          <a:lstStyle/>
          <a:p>
            <a:pPr algn="ctr"/>
            <a:r>
              <a:rPr sz="1100" b="0" i="0">
                <a:solidFill>
                  <a:srgbClr val="DDFFDD"/>
                </a:solidFill>
              </a:rPr>
              <a:t>Watchdog tested
(reboot, HA restart)</a:t>
            </a:r>
          </a:p>
        </p:txBody>
      </p:sp>
      <p:sp>
        <p:nvSpPr>
          <p:cNvPr id="22" name="Rectangle 21"/>
          <p:cNvSpPr/>
          <p:nvPr/>
        </p:nvSpPr>
        <p:spPr>
          <a:xfrm>
            <a:off x="8028432" y="1463040"/>
            <a:ext cx="1828800" cy="1280160"/>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83296" y="1508760"/>
            <a:ext cx="1737360" cy="475488"/>
          </a:xfrm>
          <a:prstGeom prst="rect">
            <a:avLst/>
          </a:prstGeom>
          <a:noFill/>
        </p:spPr>
        <p:txBody>
          <a:bodyPr wrap="square">
            <a:spAutoFit/>
          </a:bodyPr>
          <a:lstStyle/>
          <a:p>
            <a:pPr algn="ctr"/>
            <a:r>
              <a:rPr sz="1300" b="1" i="0">
                <a:solidFill>
                  <a:srgbClr val="FFFFFF"/>
                </a:solidFill>
              </a:rPr>
              <a:t>~ Mobile Access</a:t>
            </a:r>
          </a:p>
        </p:txBody>
      </p:sp>
      <p:sp>
        <p:nvSpPr>
          <p:cNvPr id="24" name="TextBox 23"/>
          <p:cNvSpPr txBox="1"/>
          <p:nvPr/>
        </p:nvSpPr>
        <p:spPr>
          <a:xfrm>
            <a:off x="8083296" y="1993392"/>
            <a:ext cx="1737360" cy="685800"/>
          </a:xfrm>
          <a:prstGeom prst="rect">
            <a:avLst/>
          </a:prstGeom>
          <a:noFill/>
        </p:spPr>
        <p:txBody>
          <a:bodyPr wrap="square">
            <a:spAutoFit/>
          </a:bodyPr>
          <a:lstStyle/>
          <a:p>
            <a:pPr algn="ctr"/>
            <a:r>
              <a:rPr sz="1100" b="0" i="0">
                <a:solidFill>
                  <a:srgbClr val="DDFFDD"/>
                </a:solidFill>
              </a:rPr>
              <a:t>Architecture designed,
implementation pending</a:t>
            </a:r>
          </a:p>
        </p:txBody>
      </p:sp>
      <p:sp>
        <p:nvSpPr>
          <p:cNvPr id="25" name="Rectangle 24"/>
          <p:cNvSpPr/>
          <p:nvPr/>
        </p:nvSpPr>
        <p:spPr>
          <a:xfrm>
            <a:off x="9966960" y="1463040"/>
            <a:ext cx="1828800" cy="12801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21824" y="1508760"/>
            <a:ext cx="1737360" cy="475488"/>
          </a:xfrm>
          <a:prstGeom prst="rect">
            <a:avLst/>
          </a:prstGeom>
          <a:noFill/>
        </p:spPr>
        <p:txBody>
          <a:bodyPr wrap="square">
            <a:spAutoFit/>
          </a:bodyPr>
          <a:lstStyle/>
          <a:p>
            <a:pPr algn="ctr"/>
            <a:r>
              <a:rPr sz="1300" b="1" i="0">
                <a:solidFill>
                  <a:srgbClr val="FFFFFF"/>
                </a:solidFill>
              </a:rPr>
              <a:t>→ Pilot Homes</a:t>
            </a:r>
          </a:p>
        </p:txBody>
      </p:sp>
      <p:sp>
        <p:nvSpPr>
          <p:cNvPr id="27" name="TextBox 26"/>
          <p:cNvSpPr txBox="1"/>
          <p:nvPr/>
        </p:nvSpPr>
        <p:spPr>
          <a:xfrm>
            <a:off x="10021824" y="1993392"/>
            <a:ext cx="1737360" cy="261610"/>
          </a:xfrm>
          <a:prstGeom prst="rect">
            <a:avLst/>
          </a:prstGeom>
          <a:noFill/>
        </p:spPr>
        <p:txBody>
          <a:bodyPr wrap="square">
            <a:spAutoFit/>
          </a:bodyPr>
          <a:lstStyle/>
          <a:p>
            <a:pPr algn="ctr"/>
            <a:r>
              <a:rPr lang="en-GB" sz="1100" b="0" i="0" dirty="0">
                <a:solidFill>
                  <a:srgbClr val="DDFFDD"/>
                </a:solidFill>
              </a:rPr>
              <a:t>Deploy to 5-10 homes</a:t>
            </a:r>
            <a:endParaRPr sz="1100" b="0" i="0" dirty="0">
              <a:solidFill>
                <a:srgbClr val="DDFFDD"/>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297680"/>
            <a:ext cx="12188952" cy="54864"/>
          </a:xfrm>
          <a:prstGeom prst="rect">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97280"/>
            <a:ext cx="10972800" cy="1280160"/>
          </a:xfrm>
          <a:prstGeom prst="rect">
            <a:avLst/>
          </a:prstGeom>
          <a:noFill/>
        </p:spPr>
        <p:txBody>
          <a:bodyPr wrap="square">
            <a:spAutoFit/>
          </a:bodyPr>
          <a:lstStyle/>
          <a:p>
            <a:pPr algn="ctr"/>
            <a:r>
              <a:rPr sz="5200" b="1" i="0">
                <a:solidFill>
                  <a:srgbClr val="FFFFFF"/>
                </a:solidFill>
              </a:rPr>
              <a:t>Thank You</a:t>
            </a:r>
          </a:p>
        </p:txBody>
      </p:sp>
      <p:sp>
        <p:nvSpPr>
          <p:cNvPr id="5" name="TextBox 4"/>
          <p:cNvSpPr txBox="1"/>
          <p:nvPr/>
        </p:nvSpPr>
        <p:spPr>
          <a:xfrm>
            <a:off x="548640" y="2286000"/>
            <a:ext cx="10972800" cy="640080"/>
          </a:xfrm>
          <a:prstGeom prst="rect">
            <a:avLst/>
          </a:prstGeom>
          <a:noFill/>
        </p:spPr>
        <p:txBody>
          <a:bodyPr wrap="square">
            <a:spAutoFit/>
          </a:bodyPr>
          <a:lstStyle/>
          <a:p>
            <a:pPr algn="ctr"/>
            <a:r>
              <a:rPr sz="2600" b="0" i="0">
                <a:solidFill>
                  <a:srgbClr val="F0AB00"/>
                </a:solidFill>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1463</TotalTime>
  <Words>4829</Words>
  <Application>Microsoft Office PowerPoint</Application>
  <PresentationFormat>Custom</PresentationFormat>
  <Paragraphs>436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Avinash Nagarajan</cp:lastModifiedBy>
  <cp:revision>3</cp:revision>
  <dcterms:created xsi:type="dcterms:W3CDTF">2013-01-27T09:14:16Z</dcterms:created>
  <dcterms:modified xsi:type="dcterms:W3CDTF">2026-03-05T11:17:38Z</dcterms:modified>
  <cp:category/>
</cp:coreProperties>
</file>